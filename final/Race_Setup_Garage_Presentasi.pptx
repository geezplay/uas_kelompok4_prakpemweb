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2" d="100"/>
          <a:sy n="92" d="100"/>
        </p:scale>
        <p:origin x="-307"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096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09600"/>
          </a:xfrm>
          <a:prstGeom prst="rect">
            <a:avLst/>
          </a:prstGeom>
        </p:spPr>
        <p:txBody>
          <a:bodyPr vert="horz" lIns="91440" tIns="45720" rIns="91440" bIns="45720" rtlCol="0"/>
          <a:lstStyle>
            <a:lvl1pPr algn="r">
              <a:defRPr sz="1200"/>
            </a:lvl1pPr>
          </a:lstStyle>
          <a:p>
            <a:fld id="{97A0238F-D166-4863-8A1D-DDF479F9667B}" type="datetimeFigureOut">
              <a:rPr lang="en-US" smtClean="0"/>
              <a:t>7/5/2026</a:t>
            </a:fld>
            <a:endParaRPr lang="en-US"/>
          </a:p>
        </p:txBody>
      </p:sp>
      <p:sp>
        <p:nvSpPr>
          <p:cNvPr id="4" name="Slide Image Placeholder 3"/>
          <p:cNvSpPr>
            <a:spLocks noGrp="1" noRot="1" noChangeAspect="1"/>
          </p:cNvSpPr>
          <p:nvPr>
            <p:ph type="sldImg" idx="2"/>
          </p:nvPr>
        </p:nvSpPr>
        <p:spPr>
          <a:xfrm>
            <a:off x="-635000" y="914400"/>
            <a:ext cx="8128000" cy="4572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791200"/>
            <a:ext cx="5486400" cy="54864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1580813"/>
            <a:ext cx="2971800" cy="6096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09600"/>
          </a:xfrm>
          <a:prstGeom prst="rect">
            <a:avLst/>
          </a:prstGeom>
        </p:spPr>
        <p:txBody>
          <a:bodyPr vert="horz" lIns="91440" tIns="45720" rIns="91440" bIns="45720" rtlCol="0" anchor="b"/>
          <a:lstStyle>
            <a:lvl1pPr algn="r">
              <a:defRPr sz="1200"/>
            </a:lvl1pPr>
          </a:lstStyle>
          <a:p>
            <a:fld id="{2DC69BE1-6DFD-4103-ADE5-D56ABBA6B488}" type="slidenum">
              <a:rPr lang="en-US" smtClean="0"/>
              <a:t>‹#›</a:t>
            </a:fld>
            <a:endParaRPr lang="en-US"/>
          </a:p>
        </p:txBody>
      </p:sp>
    </p:spTree>
    <p:extLst>
      <p:ext uri="{BB962C8B-B14F-4D97-AF65-F5344CB8AC3E}">
        <p14:creationId xmlns:p14="http://schemas.microsoft.com/office/powerpoint/2010/main" val="3920509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4.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3" Type="http://schemas.openxmlformats.org/officeDocument/2006/relationships/image" Target="../media/image20.png"/><Relationship Id="rId7" Type="http://schemas.openxmlformats.org/officeDocument/2006/relationships/image" Target="../media/image24.png"/><Relationship Id="rId12"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D"/>
        </a:solidFill>
        <a:effectLst/>
      </p:bgPr>
    </p:bg>
    <p:spTree>
      <p:nvGrpSpPr>
        <p:cNvPr id="1" name=""/>
        <p:cNvGrpSpPr/>
        <p:nvPr/>
      </p:nvGrpSpPr>
      <p:grpSpPr>
        <a:xfrm>
          <a:off x="0" y="0"/>
          <a:ext cx="0" cy="0"/>
          <a:chOff x="0" y="0"/>
          <a:chExt cx="0" cy="0"/>
        </a:xfrm>
      </p:grpSpPr>
      <p:sp>
        <p:nvSpPr>
          <p:cNvPr id="2" name="Shape 0"/>
          <p:cNvSpPr/>
          <p:nvPr/>
        </p:nvSpPr>
        <p:spPr>
          <a:xfrm>
            <a:off x="8778240" y="0"/>
            <a:ext cx="3410712" cy="6858000"/>
          </a:xfrm>
          <a:prstGeom prst="rect">
            <a:avLst/>
          </a:prstGeom>
          <a:solidFill>
            <a:srgbClr val="2B2B30"/>
          </a:solidFill>
          <a:ln/>
        </p:spPr>
      </p:sp>
      <p:sp>
        <p:nvSpPr>
          <p:cNvPr id="3" name="Shape 1"/>
          <p:cNvSpPr/>
          <p:nvPr/>
        </p:nvSpPr>
        <p:spPr>
          <a:xfrm>
            <a:off x="9692640" y="-1188720"/>
            <a:ext cx="4114800" cy="4114800"/>
          </a:xfrm>
          <a:prstGeom prst="ellipse">
            <a:avLst/>
          </a:prstGeom>
          <a:solidFill>
            <a:srgbClr val="E10600"/>
          </a:solidFill>
          <a:ln/>
        </p:spPr>
      </p:sp>
      <p:pic>
        <p:nvPicPr>
          <p:cNvPr id="4" name="Image 0" descr="preencoded.png"/>
          <p:cNvPicPr>
            <a:picLocks noChangeAspect="1"/>
          </p:cNvPicPr>
          <p:nvPr/>
        </p:nvPicPr>
        <p:blipFill>
          <a:blip r:embed="rId3"/>
          <a:stretch>
            <a:fillRect/>
          </a:stretch>
        </p:blipFill>
        <p:spPr>
          <a:xfrm>
            <a:off x="10561320" y="502920"/>
            <a:ext cx="1188720" cy="1188720"/>
          </a:xfrm>
          <a:prstGeom prst="rect">
            <a:avLst/>
          </a:prstGeom>
        </p:spPr>
      </p:pic>
      <p:sp>
        <p:nvSpPr>
          <p:cNvPr id="5" name="Text 2"/>
          <p:cNvSpPr/>
          <p:nvPr/>
        </p:nvSpPr>
        <p:spPr>
          <a:xfrm>
            <a:off x="731520" y="2148840"/>
            <a:ext cx="7772400" cy="365760"/>
          </a:xfrm>
          <a:prstGeom prst="rect">
            <a:avLst/>
          </a:prstGeom>
          <a:noFill/>
          <a:ln/>
        </p:spPr>
        <p:txBody>
          <a:bodyPr wrap="square" lIns="0" tIns="0" rIns="0" bIns="0" rtlCol="0" anchor="ctr"/>
          <a:lstStyle/>
          <a:p>
            <a:pPr marL="0" indent="0">
              <a:buNone/>
            </a:pPr>
            <a:endParaRPr lang="en-US" sz="1400" dirty="0"/>
          </a:p>
        </p:txBody>
      </p:sp>
      <p:sp>
        <p:nvSpPr>
          <p:cNvPr id="6" name="Text 3"/>
          <p:cNvSpPr/>
          <p:nvPr/>
        </p:nvSpPr>
        <p:spPr>
          <a:xfrm>
            <a:off x="685800" y="2514600"/>
            <a:ext cx="8229600" cy="137160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Race Setup Garage</a:t>
            </a:r>
            <a:endParaRPr lang="en-US" sz="5400" dirty="0"/>
          </a:p>
        </p:txBody>
      </p:sp>
      <p:sp>
        <p:nvSpPr>
          <p:cNvPr id="7" name="Text 4"/>
          <p:cNvSpPr/>
          <p:nvPr/>
        </p:nvSpPr>
        <p:spPr>
          <a:xfrm>
            <a:off x="731520" y="3611880"/>
            <a:ext cx="7589520" cy="548640"/>
          </a:xfrm>
          <a:prstGeom prst="rect">
            <a:avLst/>
          </a:prstGeom>
          <a:noFill/>
          <a:ln/>
        </p:spPr>
        <p:txBody>
          <a:bodyPr wrap="square" lIns="0" tIns="0" rIns="0" bIns="0" rtlCol="0" anchor="ctr"/>
          <a:lstStyle/>
          <a:p>
            <a:pPr marL="0" indent="0">
              <a:buNone/>
            </a:pPr>
            <a:r>
              <a:rPr lang="en-US" sz="1800" dirty="0">
                <a:solidFill>
                  <a:srgbClr val="C9C9CE"/>
                </a:solidFill>
                <a:latin typeface="Calibri" pitchFamily="34" charset="0"/>
                <a:ea typeface="Calibri" pitchFamily="34" charset="-122"/>
                <a:cs typeface="Calibri" pitchFamily="34" charset="-120"/>
              </a:rPr>
              <a:t>Sistem Manajemen Setup Motor Balap Berbasis Website</a:t>
            </a:r>
            <a:endParaRPr lang="en-US" sz="1800" dirty="0"/>
          </a:p>
        </p:txBody>
      </p:sp>
      <p:sp>
        <p:nvSpPr>
          <p:cNvPr id="8" name="Shape 5"/>
          <p:cNvSpPr/>
          <p:nvPr/>
        </p:nvSpPr>
        <p:spPr>
          <a:xfrm>
            <a:off x="731520" y="4251960"/>
            <a:ext cx="2926080" cy="0"/>
          </a:xfrm>
          <a:prstGeom prst="line">
            <a:avLst/>
          </a:prstGeom>
          <a:noFill/>
          <a:ln w="25400">
            <a:solidFill>
              <a:srgbClr val="E10600"/>
            </a:solidFill>
            <a:prstDash val="solid"/>
          </a:ln>
        </p:spPr>
      </p:sp>
      <p:sp>
        <p:nvSpPr>
          <p:cNvPr id="9" name="Text 6"/>
          <p:cNvSpPr/>
          <p:nvPr/>
        </p:nvSpPr>
        <p:spPr>
          <a:xfrm>
            <a:off x="731520" y="4526280"/>
            <a:ext cx="7315200" cy="822960"/>
          </a:xfrm>
          <a:prstGeom prst="rect">
            <a:avLst/>
          </a:prstGeom>
          <a:noFill/>
          <a:ln/>
        </p:spPr>
        <p:txBody>
          <a:bodyPr wrap="square" lIns="0" tIns="0" rIns="0" bIns="0" rtlCol="0" anchor="ctr"/>
          <a:lstStyle/>
          <a:p>
            <a:pPr marL="0" indent="0">
              <a:lnSpc>
                <a:spcPct val="140000"/>
              </a:lnSpc>
              <a:buNone/>
            </a:pPr>
            <a:endParaRPr lang="id-ID" sz="1300" b="1" dirty="0" smtClean="0">
              <a:solidFill>
                <a:srgbClr val="FFFFFF"/>
              </a:solidFill>
              <a:latin typeface="Calibri" pitchFamily="34" charset="0"/>
              <a:ea typeface="Calibri" pitchFamily="34" charset="-122"/>
              <a:cs typeface="Calibri" pitchFamily="34" charset="-120"/>
            </a:endParaRPr>
          </a:p>
          <a:p>
            <a:pPr marL="0" indent="0">
              <a:lnSpc>
                <a:spcPct val="140000"/>
              </a:lnSpc>
              <a:buNone/>
            </a:pPr>
            <a:r>
              <a:rPr lang="en-US" sz="1300" b="1" dirty="0" smtClean="0">
                <a:solidFill>
                  <a:srgbClr val="FFFFFF"/>
                </a:solidFill>
                <a:latin typeface="Calibri" pitchFamily="34" charset="0"/>
                <a:ea typeface="Calibri" pitchFamily="34" charset="-122"/>
                <a:cs typeface="Calibri" pitchFamily="34" charset="-120"/>
              </a:rPr>
              <a:t>Mata </a:t>
            </a:r>
            <a:r>
              <a:rPr lang="en-US" sz="1300" b="1" dirty="0">
                <a:solidFill>
                  <a:srgbClr val="FFFFFF"/>
                </a:solidFill>
                <a:latin typeface="Calibri" pitchFamily="34" charset="0"/>
                <a:ea typeface="Calibri" pitchFamily="34" charset="-122"/>
                <a:cs typeface="Calibri" pitchFamily="34" charset="-120"/>
              </a:rPr>
              <a:t>Kuliah: </a:t>
            </a:r>
            <a:r>
              <a:rPr lang="id-ID" sz="1300" b="1" dirty="0" smtClean="0">
                <a:solidFill>
                  <a:srgbClr val="FFFFFF"/>
                </a:solidFill>
                <a:latin typeface="Calibri" pitchFamily="34" charset="0"/>
                <a:ea typeface="Calibri" pitchFamily="34" charset="-122"/>
                <a:cs typeface="Calibri" pitchFamily="34" charset="-120"/>
              </a:rPr>
              <a:t>praktikum pemprograman website </a:t>
            </a:r>
          </a:p>
          <a:p>
            <a:pPr marL="0" indent="0">
              <a:lnSpc>
                <a:spcPct val="140000"/>
              </a:lnSpc>
              <a:buNone/>
            </a:pPr>
            <a:r>
              <a:rPr lang="id-ID" sz="1300" b="1" dirty="0" smtClean="0">
                <a:solidFill>
                  <a:srgbClr val="FFFFFF"/>
                </a:solidFill>
                <a:latin typeface="Calibri" pitchFamily="34" charset="0"/>
                <a:ea typeface="Calibri" pitchFamily="34" charset="-122"/>
                <a:cs typeface="Calibri" pitchFamily="34" charset="-120"/>
              </a:rPr>
              <a:t>243510501 m wahyu ramadhika r</a:t>
            </a:r>
          </a:p>
          <a:p>
            <a:pPr>
              <a:lnSpc>
                <a:spcPct val="140000"/>
              </a:lnSpc>
            </a:pPr>
            <a:r>
              <a:rPr lang="id-ID" sz="1300" b="1" dirty="0" smtClean="0">
                <a:solidFill>
                  <a:srgbClr val="FFFFFF"/>
                </a:solidFill>
                <a:latin typeface="Calibri" pitchFamily="34" charset="0"/>
                <a:ea typeface="Calibri" pitchFamily="34" charset="-122"/>
                <a:cs typeface="Calibri" pitchFamily="34" charset="-120"/>
              </a:rPr>
              <a:t>243510613 raja baruna putra pardede</a:t>
            </a:r>
          </a:p>
          <a:p>
            <a:pPr>
              <a:lnSpc>
                <a:spcPct val="140000"/>
              </a:lnSpc>
            </a:pPr>
            <a:r>
              <a:rPr lang="id-ID" sz="1300" b="1" dirty="0" smtClean="0">
                <a:solidFill>
                  <a:srgbClr val="FFFFFF"/>
                </a:solidFill>
                <a:latin typeface="Calibri" pitchFamily="34" charset="0"/>
                <a:ea typeface="Calibri" pitchFamily="34" charset="-122"/>
                <a:cs typeface="Calibri" pitchFamily="34" charset="-120"/>
              </a:rPr>
              <a:t>243510338 muhammad haikal hanafi</a:t>
            </a:r>
            <a:endParaRPr lang="en-US" sz="1300" dirty="0"/>
          </a:p>
          <a:p>
            <a:pPr>
              <a:lnSpc>
                <a:spcPct val="140000"/>
              </a:lnSpc>
            </a:pPr>
            <a:endParaRPr lang="en-US" sz="1300" dirty="0"/>
          </a:p>
          <a:p>
            <a:pPr marL="0" indent="0">
              <a:lnSpc>
                <a:spcPct val="140000"/>
              </a:lnSpc>
              <a:buNone/>
            </a:pPr>
            <a:endParaRPr lang="en-US" sz="13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PENDAHULUAN</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Latar Belakang</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48640" y="1691640"/>
            <a:ext cx="6309360" cy="1554480"/>
          </a:xfrm>
          <a:prstGeom prst="rect">
            <a:avLst/>
          </a:prstGeom>
          <a:noFill/>
          <a:ln/>
        </p:spPr>
        <p:txBody>
          <a:bodyPr wrap="square" lIns="0" tIns="0" rIns="0" bIns="0" rtlCol="0" anchor="ctr"/>
          <a:lstStyle/>
          <a:p>
            <a:pPr marL="0" indent="0">
              <a:lnSpc>
                <a:spcPct val="130000"/>
              </a:lnSpc>
              <a:buNone/>
            </a:pPr>
            <a:r>
              <a:rPr lang="en-US" sz="1500" dirty="0">
                <a:solidFill>
                  <a:srgbClr val="2B2B30"/>
                </a:solidFill>
                <a:latin typeface="Calibri" pitchFamily="34" charset="0"/>
                <a:ea typeface="Calibri" pitchFamily="34" charset="-122"/>
                <a:cs typeface="Calibri" pitchFamily="34" charset="-120"/>
              </a:rPr>
              <a:t>Mekanik balap kerap mengubah setup mesin dan transmisi menyesuaikan karakteristik sirkuit, cuaca, dan kebutuhan pembalap. Selama ini pencatatan dilakukan secara manual melalui buku maupun pesan singkat, sehingga data sulit ditelusuri kembali.</a:t>
            </a:r>
            <a:endParaRPr lang="en-US" sz="1500" dirty="0"/>
          </a:p>
        </p:txBody>
      </p:sp>
      <p:sp>
        <p:nvSpPr>
          <p:cNvPr id="7" name="Text 5"/>
          <p:cNvSpPr/>
          <p:nvPr/>
        </p:nvSpPr>
        <p:spPr>
          <a:xfrm>
            <a:off x="548640" y="3337560"/>
            <a:ext cx="6309360" cy="2011680"/>
          </a:xfrm>
          <a:prstGeom prst="rect">
            <a:avLst/>
          </a:prstGeom>
          <a:noFill/>
          <a:ln/>
        </p:spPr>
        <p:txBody>
          <a:bodyPr wrap="square" lIns="0" tIns="0" rIns="0" bIns="0" rtlCol="0" anchor="ctr"/>
          <a:lstStyle/>
          <a:p>
            <a:pPr marL="0" indent="0">
              <a:lnSpc>
                <a:spcPct val="130000"/>
              </a:lnSpc>
              <a:buNone/>
            </a:pPr>
            <a:r>
              <a:rPr lang="en-US" sz="1500" dirty="0">
                <a:solidFill>
                  <a:srgbClr val="2B2B30"/>
                </a:solidFill>
                <a:latin typeface="Calibri" pitchFamily="34" charset="0"/>
                <a:ea typeface="Calibri" pitchFamily="34" charset="-122"/>
                <a:cs typeface="Calibri" pitchFamily="34" charset="-120"/>
              </a:rPr>
              <a:t>Pencatatan manual berisiko kehilangan data dan salah catat, serta tidak memiliki sistem pencarian maupun pembaruan yang memadai. Race Setup Garage hadir sebagai aplikasi CRUD sederhana berbasis file JSON — ringan, mudah dipelajari, dan sesuai kebutuhan pembelajaran mata kuliah Pemrograman Website.</a:t>
            </a:r>
            <a:endParaRPr lang="en-US" sz="1500" dirty="0"/>
          </a:p>
        </p:txBody>
      </p:sp>
      <p:sp>
        <p:nvSpPr>
          <p:cNvPr id="8" name="Shape 6"/>
          <p:cNvSpPr/>
          <p:nvPr/>
        </p:nvSpPr>
        <p:spPr>
          <a:xfrm>
            <a:off x="7360920" y="1691640"/>
            <a:ext cx="4297680" cy="3977640"/>
          </a:xfrm>
          <a:prstGeom prst="roundRect">
            <a:avLst>
              <a:gd name="adj" fmla="val 2759"/>
            </a:avLst>
          </a:prstGeom>
          <a:solidFill>
            <a:srgbClr val="1A1A1D"/>
          </a:solidFill>
          <a:ln/>
          <a:effectLst>
            <a:outerShdw blurRad="101600" dist="38100" dir="5400000" algn="bl" rotWithShape="0">
              <a:srgbClr val="000000">
                <a:alpha val="12000"/>
              </a:srgbClr>
            </a:outerShdw>
          </a:effectLst>
        </p:spPr>
      </p:sp>
      <p:pic>
        <p:nvPicPr>
          <p:cNvPr id="9" name="Image 0" descr="preencoded.png"/>
          <p:cNvPicPr>
            <a:picLocks noChangeAspect="1"/>
          </p:cNvPicPr>
          <p:nvPr/>
        </p:nvPicPr>
        <p:blipFill>
          <a:blip r:embed="rId3"/>
          <a:stretch>
            <a:fillRect/>
          </a:stretch>
        </p:blipFill>
        <p:spPr>
          <a:xfrm>
            <a:off x="9052560" y="2148840"/>
            <a:ext cx="914400" cy="914400"/>
          </a:xfrm>
          <a:prstGeom prst="rect">
            <a:avLst/>
          </a:prstGeom>
        </p:spPr>
      </p:pic>
      <p:sp>
        <p:nvSpPr>
          <p:cNvPr id="10" name="Text 7"/>
          <p:cNvSpPr/>
          <p:nvPr/>
        </p:nvSpPr>
        <p:spPr>
          <a:xfrm>
            <a:off x="7635240" y="3200400"/>
            <a:ext cx="3749040" cy="36576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Tanpa Sistem Digital</a:t>
            </a:r>
            <a:endParaRPr lang="en-US" sz="1600" dirty="0"/>
          </a:p>
        </p:txBody>
      </p:sp>
      <p:sp>
        <p:nvSpPr>
          <p:cNvPr id="11" name="Text 8"/>
          <p:cNvSpPr/>
          <p:nvPr/>
        </p:nvSpPr>
        <p:spPr>
          <a:xfrm>
            <a:off x="7818120" y="3703320"/>
            <a:ext cx="3566160" cy="1737360"/>
          </a:xfrm>
          <a:prstGeom prst="rect">
            <a:avLst/>
          </a:prstGeom>
          <a:noFill/>
          <a:ln/>
        </p:spPr>
        <p:txBody>
          <a:bodyPr wrap="square" lIns="0" tIns="0" rIns="0" bIns="0" rtlCol="0" anchor="ctr"/>
          <a:lstStyle/>
          <a:p>
            <a:pPr marL="342900" indent="-342900">
              <a:lnSpc>
                <a:spcPct val="150000"/>
              </a:lnSpc>
              <a:buSzPct val="100000"/>
              <a:buChar char="–"/>
            </a:pPr>
            <a:r>
              <a:rPr lang="en-US" sz="1300" dirty="0">
                <a:solidFill>
                  <a:srgbClr val="D8D8DC"/>
                </a:solidFill>
                <a:latin typeface="Calibri" pitchFamily="34" charset="0"/>
                <a:ea typeface="Calibri" pitchFamily="34" charset="-122"/>
                <a:cs typeface="Calibri" pitchFamily="34" charset="-120"/>
              </a:rPr>
              <a:t>Rawan hilang &amp; salah catat</a:t>
            </a:r>
            <a:endParaRPr lang="en-US" sz="1300" dirty="0"/>
          </a:p>
          <a:p>
            <a:pPr marL="342900" indent="-342900">
              <a:lnSpc>
                <a:spcPct val="150000"/>
              </a:lnSpc>
              <a:buSzPct val="100000"/>
              <a:buChar char="–"/>
            </a:pPr>
            <a:r>
              <a:rPr lang="en-US" sz="1300" dirty="0">
                <a:solidFill>
                  <a:srgbClr val="D8D8DC"/>
                </a:solidFill>
                <a:latin typeface="Calibri" pitchFamily="34" charset="0"/>
                <a:ea typeface="Calibri" pitchFamily="34" charset="-122"/>
                <a:cs typeface="Calibri" pitchFamily="34" charset="-120"/>
              </a:rPr>
              <a:t>Sulit dicari berdasarkan motor/sirkuit</a:t>
            </a:r>
            <a:endParaRPr lang="en-US" sz="1300" dirty="0"/>
          </a:p>
          <a:p>
            <a:pPr marL="342900" indent="-342900">
              <a:lnSpc>
                <a:spcPct val="150000"/>
              </a:lnSpc>
              <a:buSzPct val="100000"/>
              <a:buChar char="–"/>
            </a:pPr>
            <a:r>
              <a:rPr lang="en-US" sz="1300" dirty="0">
                <a:solidFill>
                  <a:srgbClr val="D8D8DC"/>
                </a:solidFill>
                <a:latin typeface="Calibri" pitchFamily="34" charset="0"/>
                <a:ea typeface="Calibri" pitchFamily="34" charset="-122"/>
                <a:cs typeface="Calibri" pitchFamily="34" charset="-120"/>
              </a:rPr>
              <a:t>Tidak ada riwayat pembaruan</a:t>
            </a:r>
            <a:endParaRPr lang="en-US" sz="13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5F6"/>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ANALISIS</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Permasalahan</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737360"/>
            <a:ext cx="11064240" cy="841248"/>
          </a:xfrm>
          <a:prstGeom prst="roundRect">
            <a:avLst>
              <a:gd name="adj" fmla="val 8696"/>
            </a:avLst>
          </a:prstGeom>
          <a:solidFill>
            <a:srgbClr val="FFFFFF"/>
          </a:solidFill>
          <a:ln/>
          <a:effectLst>
            <a:outerShdw blurRad="101600" dist="38100" dir="54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822960" y="1938528"/>
            <a:ext cx="438912" cy="438912"/>
          </a:xfrm>
          <a:prstGeom prst="rect">
            <a:avLst/>
          </a:prstGeom>
        </p:spPr>
      </p:pic>
      <p:sp>
        <p:nvSpPr>
          <p:cNvPr id="8" name="Text 5"/>
          <p:cNvSpPr/>
          <p:nvPr/>
        </p:nvSpPr>
        <p:spPr>
          <a:xfrm>
            <a:off x="1508760" y="1737360"/>
            <a:ext cx="9784080" cy="841248"/>
          </a:xfrm>
          <a:prstGeom prst="rect">
            <a:avLst/>
          </a:prstGeom>
          <a:noFill/>
          <a:ln/>
        </p:spPr>
        <p:txBody>
          <a:bodyPr wrap="square" lIns="0" tIns="0" rIns="0" bIns="0" rtlCol="0" anchor="ctr"/>
          <a:lstStyle/>
          <a:p>
            <a:pPr marL="0" indent="0">
              <a:buNone/>
            </a:pPr>
            <a:r>
              <a:rPr lang="en-US" sz="1600" dirty="0">
                <a:solidFill>
                  <a:srgbClr val="2B2B30"/>
                </a:solidFill>
                <a:latin typeface="Calibri" pitchFamily="34" charset="0"/>
                <a:ea typeface="Calibri" pitchFamily="34" charset="-122"/>
                <a:cs typeface="Calibri" pitchFamily="34" charset="-120"/>
              </a:rPr>
              <a:t>Data setup masih dicatat secara manual</a:t>
            </a:r>
            <a:endParaRPr lang="en-US" sz="1600" dirty="0"/>
          </a:p>
        </p:txBody>
      </p:sp>
      <p:sp>
        <p:nvSpPr>
          <p:cNvPr id="9" name="Shape 6"/>
          <p:cNvSpPr/>
          <p:nvPr/>
        </p:nvSpPr>
        <p:spPr>
          <a:xfrm>
            <a:off x="548640" y="2651760"/>
            <a:ext cx="11064240" cy="841248"/>
          </a:xfrm>
          <a:prstGeom prst="roundRect">
            <a:avLst>
              <a:gd name="adj" fmla="val 8696"/>
            </a:avLst>
          </a:prstGeom>
          <a:solidFill>
            <a:srgbClr val="FFFFFF"/>
          </a:solidFill>
          <a:ln/>
          <a:effectLst>
            <a:outerShdw blurRad="101600" dist="38100" dir="5400000" algn="bl" rotWithShape="0">
              <a:srgbClr val="000000">
                <a:alpha val="12000"/>
              </a:srgbClr>
            </a:outerShdw>
          </a:effectLst>
        </p:spPr>
      </p:sp>
      <p:pic>
        <p:nvPicPr>
          <p:cNvPr id="10" name="Image 1" descr="preencoded.png"/>
          <p:cNvPicPr>
            <a:picLocks noChangeAspect="1"/>
          </p:cNvPicPr>
          <p:nvPr/>
        </p:nvPicPr>
        <p:blipFill>
          <a:blip r:embed="rId3"/>
          <a:stretch>
            <a:fillRect/>
          </a:stretch>
        </p:blipFill>
        <p:spPr>
          <a:xfrm>
            <a:off x="822960" y="2852928"/>
            <a:ext cx="438912" cy="438912"/>
          </a:xfrm>
          <a:prstGeom prst="rect">
            <a:avLst/>
          </a:prstGeom>
        </p:spPr>
      </p:pic>
      <p:sp>
        <p:nvSpPr>
          <p:cNvPr id="11" name="Text 7"/>
          <p:cNvSpPr/>
          <p:nvPr/>
        </p:nvSpPr>
        <p:spPr>
          <a:xfrm>
            <a:off x="1508760" y="2651760"/>
            <a:ext cx="9784080" cy="841248"/>
          </a:xfrm>
          <a:prstGeom prst="rect">
            <a:avLst/>
          </a:prstGeom>
          <a:noFill/>
          <a:ln/>
        </p:spPr>
        <p:txBody>
          <a:bodyPr wrap="square" lIns="0" tIns="0" rIns="0" bIns="0" rtlCol="0" anchor="ctr"/>
          <a:lstStyle/>
          <a:p>
            <a:pPr marL="0" indent="0">
              <a:buNone/>
            </a:pPr>
            <a:r>
              <a:rPr lang="en-US" sz="1600" dirty="0">
                <a:solidFill>
                  <a:srgbClr val="2B2B30"/>
                </a:solidFill>
                <a:latin typeface="Calibri" pitchFamily="34" charset="0"/>
                <a:ea typeface="Calibri" pitchFamily="34" charset="-122"/>
                <a:cs typeface="Calibri" pitchFamily="34" charset="-120"/>
              </a:rPr>
              <a:t>Sulit mencari setup lama berdasarkan motor atau sirkuit</a:t>
            </a:r>
            <a:endParaRPr lang="en-US" sz="1600" dirty="0"/>
          </a:p>
        </p:txBody>
      </p:sp>
      <p:sp>
        <p:nvSpPr>
          <p:cNvPr id="12" name="Shape 8"/>
          <p:cNvSpPr/>
          <p:nvPr/>
        </p:nvSpPr>
        <p:spPr>
          <a:xfrm>
            <a:off x="548640" y="3566160"/>
            <a:ext cx="11064240" cy="841248"/>
          </a:xfrm>
          <a:prstGeom prst="roundRect">
            <a:avLst>
              <a:gd name="adj" fmla="val 8696"/>
            </a:avLst>
          </a:prstGeom>
          <a:solidFill>
            <a:srgbClr val="FFFFFF"/>
          </a:solidFill>
          <a:ln/>
          <a:effectLst>
            <a:outerShdw blurRad="101600" dist="38100" dir="5400000" algn="bl" rotWithShape="0">
              <a:srgbClr val="000000">
                <a:alpha val="12000"/>
              </a:srgbClr>
            </a:outerShdw>
          </a:effectLst>
        </p:spPr>
      </p:sp>
      <p:pic>
        <p:nvPicPr>
          <p:cNvPr id="13" name="Image 2" descr="preencoded.png"/>
          <p:cNvPicPr>
            <a:picLocks noChangeAspect="1"/>
          </p:cNvPicPr>
          <p:nvPr/>
        </p:nvPicPr>
        <p:blipFill>
          <a:blip r:embed="rId3"/>
          <a:stretch>
            <a:fillRect/>
          </a:stretch>
        </p:blipFill>
        <p:spPr>
          <a:xfrm>
            <a:off x="822960" y="3767328"/>
            <a:ext cx="438912" cy="438912"/>
          </a:xfrm>
          <a:prstGeom prst="rect">
            <a:avLst/>
          </a:prstGeom>
        </p:spPr>
      </p:pic>
      <p:sp>
        <p:nvSpPr>
          <p:cNvPr id="14" name="Text 9"/>
          <p:cNvSpPr/>
          <p:nvPr/>
        </p:nvSpPr>
        <p:spPr>
          <a:xfrm>
            <a:off x="1508760" y="3566160"/>
            <a:ext cx="9784080" cy="841248"/>
          </a:xfrm>
          <a:prstGeom prst="rect">
            <a:avLst/>
          </a:prstGeom>
          <a:noFill/>
          <a:ln/>
        </p:spPr>
        <p:txBody>
          <a:bodyPr wrap="square" lIns="0" tIns="0" rIns="0" bIns="0" rtlCol="0" anchor="ctr"/>
          <a:lstStyle/>
          <a:p>
            <a:pPr marL="0" indent="0">
              <a:buNone/>
            </a:pPr>
            <a:r>
              <a:rPr lang="en-US" sz="1600" dirty="0">
                <a:solidFill>
                  <a:srgbClr val="2B2B30"/>
                </a:solidFill>
                <a:latin typeface="Calibri" pitchFamily="34" charset="0"/>
                <a:ea typeface="Calibri" pitchFamily="34" charset="-122"/>
                <a:cs typeface="Calibri" pitchFamily="34" charset="-120"/>
              </a:rPr>
              <a:t>Tidak ada sistem untuk memperbarui data setup</a:t>
            </a:r>
            <a:endParaRPr lang="en-US" sz="1600" dirty="0"/>
          </a:p>
        </p:txBody>
      </p:sp>
      <p:sp>
        <p:nvSpPr>
          <p:cNvPr id="15" name="Shape 10"/>
          <p:cNvSpPr/>
          <p:nvPr/>
        </p:nvSpPr>
        <p:spPr>
          <a:xfrm>
            <a:off x="548640" y="4480560"/>
            <a:ext cx="11064240" cy="841248"/>
          </a:xfrm>
          <a:prstGeom prst="roundRect">
            <a:avLst>
              <a:gd name="adj" fmla="val 8696"/>
            </a:avLst>
          </a:prstGeom>
          <a:solidFill>
            <a:srgbClr val="FFFFFF"/>
          </a:solidFill>
          <a:ln/>
          <a:effectLst>
            <a:outerShdw blurRad="101600" dist="38100" dir="5400000" algn="bl" rotWithShape="0">
              <a:srgbClr val="000000">
                <a:alpha val="12000"/>
              </a:srgbClr>
            </a:outerShdw>
          </a:effectLst>
        </p:spPr>
      </p:sp>
      <p:pic>
        <p:nvPicPr>
          <p:cNvPr id="16" name="Image 3" descr="preencoded.png"/>
          <p:cNvPicPr>
            <a:picLocks noChangeAspect="1"/>
          </p:cNvPicPr>
          <p:nvPr/>
        </p:nvPicPr>
        <p:blipFill>
          <a:blip r:embed="rId3"/>
          <a:stretch>
            <a:fillRect/>
          </a:stretch>
        </p:blipFill>
        <p:spPr>
          <a:xfrm>
            <a:off x="822960" y="4681728"/>
            <a:ext cx="438912" cy="438912"/>
          </a:xfrm>
          <a:prstGeom prst="rect">
            <a:avLst/>
          </a:prstGeom>
        </p:spPr>
      </p:pic>
      <p:sp>
        <p:nvSpPr>
          <p:cNvPr id="17" name="Text 11"/>
          <p:cNvSpPr/>
          <p:nvPr/>
        </p:nvSpPr>
        <p:spPr>
          <a:xfrm>
            <a:off x="1508760" y="4480560"/>
            <a:ext cx="9784080" cy="841248"/>
          </a:xfrm>
          <a:prstGeom prst="rect">
            <a:avLst/>
          </a:prstGeom>
          <a:noFill/>
          <a:ln/>
        </p:spPr>
        <p:txBody>
          <a:bodyPr wrap="square" lIns="0" tIns="0" rIns="0" bIns="0" rtlCol="0" anchor="ctr"/>
          <a:lstStyle/>
          <a:p>
            <a:pPr marL="0" indent="0">
              <a:buNone/>
            </a:pPr>
            <a:r>
              <a:rPr lang="en-US" sz="1600" dirty="0">
                <a:solidFill>
                  <a:srgbClr val="2B2B30"/>
                </a:solidFill>
                <a:latin typeface="Calibri" pitchFamily="34" charset="0"/>
                <a:ea typeface="Calibri" pitchFamily="34" charset="-122"/>
                <a:cs typeface="Calibri" pitchFamily="34" charset="-120"/>
              </a:rPr>
              <a:t>Tidak ada media penyimpanan digital yang sederhana</a:t>
            </a:r>
            <a:endParaRPr lang="en-US" sz="1600" dirty="0"/>
          </a:p>
        </p:txBody>
      </p:sp>
      <p:sp>
        <p:nvSpPr>
          <p:cNvPr id="18" name="Shape 12"/>
          <p:cNvSpPr/>
          <p:nvPr/>
        </p:nvSpPr>
        <p:spPr>
          <a:xfrm>
            <a:off x="548640" y="5394960"/>
            <a:ext cx="11064240" cy="841248"/>
          </a:xfrm>
          <a:prstGeom prst="roundRect">
            <a:avLst>
              <a:gd name="adj" fmla="val 8696"/>
            </a:avLst>
          </a:prstGeom>
          <a:solidFill>
            <a:srgbClr val="FFFFFF"/>
          </a:solidFill>
          <a:ln/>
          <a:effectLst>
            <a:outerShdw blurRad="101600" dist="38100" dir="5400000" algn="bl" rotWithShape="0">
              <a:srgbClr val="000000">
                <a:alpha val="12000"/>
              </a:srgbClr>
            </a:outerShdw>
          </a:effectLst>
        </p:spPr>
      </p:sp>
      <p:pic>
        <p:nvPicPr>
          <p:cNvPr id="19" name="Image 4" descr="preencoded.png"/>
          <p:cNvPicPr>
            <a:picLocks noChangeAspect="1"/>
          </p:cNvPicPr>
          <p:nvPr/>
        </p:nvPicPr>
        <p:blipFill>
          <a:blip r:embed="rId3"/>
          <a:stretch>
            <a:fillRect/>
          </a:stretch>
        </p:blipFill>
        <p:spPr>
          <a:xfrm>
            <a:off x="822960" y="5596128"/>
            <a:ext cx="438912" cy="438912"/>
          </a:xfrm>
          <a:prstGeom prst="rect">
            <a:avLst/>
          </a:prstGeom>
        </p:spPr>
      </p:pic>
      <p:sp>
        <p:nvSpPr>
          <p:cNvPr id="20" name="Text 13"/>
          <p:cNvSpPr/>
          <p:nvPr/>
        </p:nvSpPr>
        <p:spPr>
          <a:xfrm>
            <a:off x="1508760" y="5394960"/>
            <a:ext cx="9784080" cy="841248"/>
          </a:xfrm>
          <a:prstGeom prst="rect">
            <a:avLst/>
          </a:prstGeom>
          <a:noFill/>
          <a:ln/>
        </p:spPr>
        <p:txBody>
          <a:bodyPr wrap="square" lIns="0" tIns="0" rIns="0" bIns="0" rtlCol="0" anchor="ctr"/>
          <a:lstStyle/>
          <a:p>
            <a:pPr marL="0" indent="0">
              <a:buNone/>
            </a:pPr>
            <a:r>
              <a:rPr lang="en-US" sz="1600" dirty="0">
                <a:solidFill>
                  <a:srgbClr val="2B2B30"/>
                </a:solidFill>
                <a:latin typeface="Calibri" pitchFamily="34" charset="0"/>
                <a:ea typeface="Calibri" pitchFamily="34" charset="-122"/>
                <a:cs typeface="Calibri" pitchFamily="34" charset="-120"/>
              </a:rPr>
              <a:t>Mekanik membutuhkan pencatatan yang lebih cepat dan rapi</a:t>
            </a:r>
            <a:endParaRPr lang="en-US" sz="1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A1D"/>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SASARAN</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Tujuan Project</a:t>
            </a:r>
            <a:endParaRPr lang="en-US" sz="3200" dirty="0"/>
          </a:p>
        </p:txBody>
      </p:sp>
      <p:sp>
        <p:nvSpPr>
          <p:cNvPr id="4" name="Shape 2"/>
          <p:cNvSpPr/>
          <p:nvPr/>
        </p:nvSpPr>
        <p:spPr>
          <a:xfrm>
            <a:off x="0" y="0"/>
            <a:ext cx="12188952" cy="6858000"/>
          </a:xfrm>
          <a:prstGeom prst="rect">
            <a:avLst/>
          </a:prstGeom>
          <a:solidFill>
            <a:srgbClr val="1A1A1D"/>
          </a:solidFill>
          <a:ln/>
        </p:spPr>
      </p:sp>
      <p:sp>
        <p:nvSpPr>
          <p:cNvPr id="5" name="Text 3"/>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SASARAN</a:t>
            </a:r>
            <a:endParaRPr lang="en-US" sz="1200" dirty="0"/>
          </a:p>
        </p:txBody>
      </p:sp>
      <p:sp>
        <p:nvSpPr>
          <p:cNvPr id="6" name="Text 4"/>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Tujuan Project</a:t>
            </a:r>
            <a:endParaRPr lang="en-US" sz="3200" dirty="0"/>
          </a:p>
        </p:txBody>
      </p:sp>
      <p:sp>
        <p:nvSpPr>
          <p:cNvPr id="7" name="Text 5"/>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8" name="Text 6"/>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
        <p:nvSpPr>
          <p:cNvPr id="9" name="Shape 7"/>
          <p:cNvSpPr/>
          <p:nvPr/>
        </p:nvSpPr>
        <p:spPr>
          <a:xfrm>
            <a:off x="548640" y="1783080"/>
            <a:ext cx="3520440" cy="1874520"/>
          </a:xfrm>
          <a:prstGeom prst="roundRect">
            <a:avLst>
              <a:gd name="adj" fmla="val 4878"/>
            </a:avLst>
          </a:prstGeom>
          <a:solidFill>
            <a:srgbClr val="2B2B30"/>
          </a:solidFill>
          <a:ln/>
        </p:spPr>
      </p:sp>
      <p:pic>
        <p:nvPicPr>
          <p:cNvPr id="10" name="Image 0" descr="preencoded.png"/>
          <p:cNvPicPr>
            <a:picLocks noChangeAspect="1"/>
          </p:cNvPicPr>
          <p:nvPr/>
        </p:nvPicPr>
        <p:blipFill>
          <a:blip r:embed="rId3"/>
          <a:stretch>
            <a:fillRect/>
          </a:stretch>
        </p:blipFill>
        <p:spPr>
          <a:xfrm>
            <a:off x="777240" y="2011680"/>
            <a:ext cx="384048" cy="384048"/>
          </a:xfrm>
          <a:prstGeom prst="rect">
            <a:avLst/>
          </a:prstGeom>
        </p:spPr>
      </p:pic>
      <p:sp>
        <p:nvSpPr>
          <p:cNvPr id="11" name="Text 8"/>
          <p:cNvSpPr/>
          <p:nvPr/>
        </p:nvSpPr>
        <p:spPr>
          <a:xfrm>
            <a:off x="777240" y="2560320"/>
            <a:ext cx="3063240" cy="960120"/>
          </a:xfrm>
          <a:prstGeom prst="rect">
            <a:avLst/>
          </a:prstGeom>
          <a:noFill/>
          <a:ln/>
        </p:spPr>
        <p:txBody>
          <a:bodyPr wrap="square" lIns="0" tIns="0" rIns="0" bIns="0" rtlCol="0" anchor="ctr"/>
          <a:lstStyle/>
          <a:p>
            <a:pPr marL="0" indent="0">
              <a:lnSpc>
                <a:spcPct val="125000"/>
              </a:lnSpc>
              <a:buNone/>
            </a:pPr>
            <a:r>
              <a:rPr lang="en-US" sz="1400" dirty="0">
                <a:solidFill>
                  <a:srgbClr val="F5F5F6"/>
                </a:solidFill>
                <a:latin typeface="Calibri" pitchFamily="34" charset="0"/>
                <a:ea typeface="Calibri" pitchFamily="34" charset="-122"/>
                <a:cs typeface="Calibri" pitchFamily="34" charset="-120"/>
              </a:rPr>
              <a:t>Membuat aplikasi CRUD berbasis website</a:t>
            </a:r>
            <a:endParaRPr lang="en-US" sz="1400" dirty="0"/>
          </a:p>
        </p:txBody>
      </p:sp>
      <p:sp>
        <p:nvSpPr>
          <p:cNvPr id="12" name="Shape 9"/>
          <p:cNvSpPr/>
          <p:nvPr/>
        </p:nvSpPr>
        <p:spPr>
          <a:xfrm>
            <a:off x="4297680" y="1783080"/>
            <a:ext cx="3520440" cy="1874520"/>
          </a:xfrm>
          <a:prstGeom prst="roundRect">
            <a:avLst>
              <a:gd name="adj" fmla="val 4878"/>
            </a:avLst>
          </a:prstGeom>
          <a:solidFill>
            <a:srgbClr val="2B2B30"/>
          </a:solidFill>
          <a:ln/>
        </p:spPr>
      </p:sp>
      <p:pic>
        <p:nvPicPr>
          <p:cNvPr id="13" name="Image 1" descr="preencoded.png"/>
          <p:cNvPicPr>
            <a:picLocks noChangeAspect="1"/>
          </p:cNvPicPr>
          <p:nvPr/>
        </p:nvPicPr>
        <p:blipFill>
          <a:blip r:embed="rId3"/>
          <a:stretch>
            <a:fillRect/>
          </a:stretch>
        </p:blipFill>
        <p:spPr>
          <a:xfrm>
            <a:off x="4526280" y="2011680"/>
            <a:ext cx="384048" cy="384048"/>
          </a:xfrm>
          <a:prstGeom prst="rect">
            <a:avLst/>
          </a:prstGeom>
        </p:spPr>
      </p:pic>
      <p:sp>
        <p:nvSpPr>
          <p:cNvPr id="14" name="Text 10"/>
          <p:cNvSpPr/>
          <p:nvPr/>
        </p:nvSpPr>
        <p:spPr>
          <a:xfrm>
            <a:off x="4526280" y="2560320"/>
            <a:ext cx="3063240" cy="960120"/>
          </a:xfrm>
          <a:prstGeom prst="rect">
            <a:avLst/>
          </a:prstGeom>
          <a:noFill/>
          <a:ln/>
        </p:spPr>
        <p:txBody>
          <a:bodyPr wrap="square" lIns="0" tIns="0" rIns="0" bIns="0" rtlCol="0" anchor="ctr"/>
          <a:lstStyle/>
          <a:p>
            <a:pPr marL="0" indent="0">
              <a:lnSpc>
                <a:spcPct val="125000"/>
              </a:lnSpc>
              <a:buNone/>
            </a:pPr>
            <a:r>
              <a:rPr lang="en-US" sz="1400" dirty="0">
                <a:solidFill>
                  <a:srgbClr val="F5F5F6"/>
                </a:solidFill>
                <a:latin typeface="Calibri" pitchFamily="34" charset="0"/>
                <a:ea typeface="Calibri" pitchFamily="34" charset="-122"/>
                <a:cs typeface="Calibri" pitchFamily="34" charset="-120"/>
              </a:rPr>
              <a:t>Memudahkan penyimpanan setup motor balap</a:t>
            </a:r>
            <a:endParaRPr lang="en-US" sz="1400" dirty="0"/>
          </a:p>
        </p:txBody>
      </p:sp>
      <p:sp>
        <p:nvSpPr>
          <p:cNvPr id="15" name="Shape 11"/>
          <p:cNvSpPr/>
          <p:nvPr/>
        </p:nvSpPr>
        <p:spPr>
          <a:xfrm>
            <a:off x="8046720" y="1783080"/>
            <a:ext cx="3520440" cy="1874520"/>
          </a:xfrm>
          <a:prstGeom prst="roundRect">
            <a:avLst>
              <a:gd name="adj" fmla="val 4878"/>
            </a:avLst>
          </a:prstGeom>
          <a:solidFill>
            <a:srgbClr val="2B2B30"/>
          </a:solidFill>
          <a:ln/>
        </p:spPr>
      </p:sp>
      <p:pic>
        <p:nvPicPr>
          <p:cNvPr id="16" name="Image 2" descr="preencoded.png"/>
          <p:cNvPicPr>
            <a:picLocks noChangeAspect="1"/>
          </p:cNvPicPr>
          <p:nvPr/>
        </p:nvPicPr>
        <p:blipFill>
          <a:blip r:embed="rId3"/>
          <a:stretch>
            <a:fillRect/>
          </a:stretch>
        </p:blipFill>
        <p:spPr>
          <a:xfrm>
            <a:off x="8275320" y="2011680"/>
            <a:ext cx="384048" cy="384048"/>
          </a:xfrm>
          <a:prstGeom prst="rect">
            <a:avLst/>
          </a:prstGeom>
        </p:spPr>
      </p:pic>
      <p:sp>
        <p:nvSpPr>
          <p:cNvPr id="17" name="Text 12"/>
          <p:cNvSpPr/>
          <p:nvPr/>
        </p:nvSpPr>
        <p:spPr>
          <a:xfrm>
            <a:off x="8275320" y="2560320"/>
            <a:ext cx="3063240" cy="960120"/>
          </a:xfrm>
          <a:prstGeom prst="rect">
            <a:avLst/>
          </a:prstGeom>
          <a:noFill/>
          <a:ln/>
        </p:spPr>
        <p:txBody>
          <a:bodyPr wrap="square" lIns="0" tIns="0" rIns="0" bIns="0" rtlCol="0" anchor="ctr"/>
          <a:lstStyle/>
          <a:p>
            <a:pPr marL="0" indent="0">
              <a:lnSpc>
                <a:spcPct val="125000"/>
              </a:lnSpc>
              <a:buNone/>
            </a:pPr>
            <a:r>
              <a:rPr lang="en-US" sz="1400" dirty="0">
                <a:solidFill>
                  <a:srgbClr val="F5F5F6"/>
                </a:solidFill>
                <a:latin typeface="Calibri" pitchFamily="34" charset="0"/>
                <a:ea typeface="Calibri" pitchFamily="34" charset="-122"/>
                <a:cs typeface="Calibri" pitchFamily="34" charset="-120"/>
              </a:rPr>
              <a:t>Mempermudah pencarian data setup</a:t>
            </a:r>
            <a:endParaRPr lang="en-US" sz="1400" dirty="0"/>
          </a:p>
        </p:txBody>
      </p:sp>
      <p:sp>
        <p:nvSpPr>
          <p:cNvPr id="18" name="Shape 13"/>
          <p:cNvSpPr/>
          <p:nvPr/>
        </p:nvSpPr>
        <p:spPr>
          <a:xfrm>
            <a:off x="548640" y="3931920"/>
            <a:ext cx="3520440" cy="1874520"/>
          </a:xfrm>
          <a:prstGeom prst="roundRect">
            <a:avLst>
              <a:gd name="adj" fmla="val 4878"/>
            </a:avLst>
          </a:prstGeom>
          <a:solidFill>
            <a:srgbClr val="2B2B30"/>
          </a:solidFill>
          <a:ln/>
        </p:spPr>
      </p:sp>
      <p:pic>
        <p:nvPicPr>
          <p:cNvPr id="19" name="Image 3" descr="preencoded.png"/>
          <p:cNvPicPr>
            <a:picLocks noChangeAspect="1"/>
          </p:cNvPicPr>
          <p:nvPr/>
        </p:nvPicPr>
        <p:blipFill>
          <a:blip r:embed="rId3"/>
          <a:stretch>
            <a:fillRect/>
          </a:stretch>
        </p:blipFill>
        <p:spPr>
          <a:xfrm>
            <a:off x="777240" y="4160520"/>
            <a:ext cx="384048" cy="384048"/>
          </a:xfrm>
          <a:prstGeom prst="rect">
            <a:avLst/>
          </a:prstGeom>
        </p:spPr>
      </p:pic>
      <p:sp>
        <p:nvSpPr>
          <p:cNvPr id="20" name="Text 14"/>
          <p:cNvSpPr/>
          <p:nvPr/>
        </p:nvSpPr>
        <p:spPr>
          <a:xfrm>
            <a:off x="777240" y="4709160"/>
            <a:ext cx="3063240" cy="960120"/>
          </a:xfrm>
          <a:prstGeom prst="rect">
            <a:avLst/>
          </a:prstGeom>
          <a:noFill/>
          <a:ln/>
        </p:spPr>
        <p:txBody>
          <a:bodyPr wrap="square" lIns="0" tIns="0" rIns="0" bIns="0" rtlCol="0" anchor="ctr"/>
          <a:lstStyle/>
          <a:p>
            <a:pPr marL="0" indent="0">
              <a:lnSpc>
                <a:spcPct val="125000"/>
              </a:lnSpc>
              <a:buNone/>
            </a:pPr>
            <a:r>
              <a:rPr lang="en-US" sz="1400" dirty="0">
                <a:solidFill>
                  <a:srgbClr val="F5F5F6"/>
                </a:solidFill>
                <a:latin typeface="Calibri" pitchFamily="34" charset="0"/>
                <a:ea typeface="Calibri" pitchFamily="34" charset="-122"/>
                <a:cs typeface="Calibri" pitchFamily="34" charset="-120"/>
              </a:rPr>
              <a:t>Media pembelajaran implementasi CRUD tanpa database</a:t>
            </a:r>
            <a:endParaRPr lang="en-US" sz="1400" dirty="0"/>
          </a:p>
        </p:txBody>
      </p:sp>
      <p:sp>
        <p:nvSpPr>
          <p:cNvPr id="21" name="Shape 15"/>
          <p:cNvSpPr/>
          <p:nvPr/>
        </p:nvSpPr>
        <p:spPr>
          <a:xfrm>
            <a:off x="4297680" y="3931920"/>
            <a:ext cx="3520440" cy="1874520"/>
          </a:xfrm>
          <a:prstGeom prst="roundRect">
            <a:avLst>
              <a:gd name="adj" fmla="val 4878"/>
            </a:avLst>
          </a:prstGeom>
          <a:solidFill>
            <a:srgbClr val="2B2B30"/>
          </a:solidFill>
          <a:ln/>
        </p:spPr>
      </p:sp>
      <p:pic>
        <p:nvPicPr>
          <p:cNvPr id="22" name="Image 4" descr="preencoded.png"/>
          <p:cNvPicPr>
            <a:picLocks noChangeAspect="1"/>
          </p:cNvPicPr>
          <p:nvPr/>
        </p:nvPicPr>
        <p:blipFill>
          <a:blip r:embed="rId3"/>
          <a:stretch>
            <a:fillRect/>
          </a:stretch>
        </p:blipFill>
        <p:spPr>
          <a:xfrm>
            <a:off x="4526280" y="4160520"/>
            <a:ext cx="384048" cy="384048"/>
          </a:xfrm>
          <a:prstGeom prst="rect">
            <a:avLst/>
          </a:prstGeom>
        </p:spPr>
      </p:pic>
      <p:sp>
        <p:nvSpPr>
          <p:cNvPr id="23" name="Text 16"/>
          <p:cNvSpPr/>
          <p:nvPr/>
        </p:nvSpPr>
        <p:spPr>
          <a:xfrm>
            <a:off x="4526280" y="4709160"/>
            <a:ext cx="3063240" cy="960120"/>
          </a:xfrm>
          <a:prstGeom prst="rect">
            <a:avLst/>
          </a:prstGeom>
          <a:noFill/>
          <a:ln/>
        </p:spPr>
        <p:txBody>
          <a:bodyPr wrap="square" lIns="0" tIns="0" rIns="0" bIns="0" rtlCol="0" anchor="ctr"/>
          <a:lstStyle/>
          <a:p>
            <a:pPr marL="0" indent="0">
              <a:lnSpc>
                <a:spcPct val="125000"/>
              </a:lnSpc>
              <a:buNone/>
            </a:pPr>
            <a:r>
              <a:rPr lang="en-US" sz="1400" dirty="0">
                <a:solidFill>
                  <a:srgbClr val="F5F5F6"/>
                </a:solidFill>
                <a:latin typeface="Calibri" pitchFamily="34" charset="0"/>
                <a:ea typeface="Calibri" pitchFamily="34" charset="-122"/>
                <a:cs typeface="Calibri" pitchFamily="34" charset="-120"/>
              </a:rPr>
              <a:t>Memenuhi tugas akhir mata kuliah Pemrograman Website</a:t>
            </a:r>
            <a:endParaRPr lang="en-US" sz="1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PENGGUNA</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Target Pengguna</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498348" y="1828800"/>
            <a:ext cx="2606040" cy="3566160"/>
          </a:xfrm>
          <a:prstGeom prst="roundRect">
            <a:avLst>
              <a:gd name="adj" fmla="val 4211"/>
            </a:avLst>
          </a:prstGeom>
          <a:solidFill>
            <a:srgbClr val="F2F2F4"/>
          </a:solidFill>
          <a:ln/>
          <a:effectLst>
            <a:outerShdw blurRad="101600" dist="38100" dir="5400000" algn="bl" rotWithShape="0">
              <a:srgbClr val="000000">
                <a:alpha val="12000"/>
              </a:srgbClr>
            </a:outerShdw>
          </a:effectLst>
        </p:spPr>
      </p:sp>
      <p:sp>
        <p:nvSpPr>
          <p:cNvPr id="7" name="Shape 5"/>
          <p:cNvSpPr/>
          <p:nvPr/>
        </p:nvSpPr>
        <p:spPr>
          <a:xfrm>
            <a:off x="1298448" y="2240280"/>
            <a:ext cx="1005840" cy="1005840"/>
          </a:xfrm>
          <a:prstGeom prst="ellipse">
            <a:avLst/>
          </a:prstGeom>
          <a:solidFill>
            <a:srgbClr val="E10600"/>
          </a:solidFill>
          <a:ln/>
        </p:spPr>
      </p:sp>
      <p:pic>
        <p:nvPicPr>
          <p:cNvPr id="8" name="Image 0" descr="preencoded.png"/>
          <p:cNvPicPr>
            <a:picLocks noChangeAspect="1"/>
          </p:cNvPicPr>
          <p:nvPr/>
        </p:nvPicPr>
        <p:blipFill>
          <a:blip r:embed="rId3"/>
          <a:stretch>
            <a:fillRect/>
          </a:stretch>
        </p:blipFill>
        <p:spPr>
          <a:xfrm>
            <a:off x="1508760" y="2450592"/>
            <a:ext cx="585216" cy="585216"/>
          </a:xfrm>
          <a:prstGeom prst="rect">
            <a:avLst/>
          </a:prstGeom>
        </p:spPr>
      </p:pic>
      <p:sp>
        <p:nvSpPr>
          <p:cNvPr id="9" name="Text 6"/>
          <p:cNvSpPr/>
          <p:nvPr/>
        </p:nvSpPr>
        <p:spPr>
          <a:xfrm>
            <a:off x="635508" y="3520440"/>
            <a:ext cx="2331720" cy="548640"/>
          </a:xfrm>
          <a:prstGeom prst="rect">
            <a:avLst/>
          </a:prstGeom>
          <a:noFill/>
          <a:ln/>
        </p:spPr>
        <p:txBody>
          <a:bodyPr wrap="square" lIns="0" tIns="0" rIns="0" bIns="0" rtlCol="0" anchor="ctr"/>
          <a:lstStyle/>
          <a:p>
            <a:pPr marL="0" indent="0" algn="ctr">
              <a:buNone/>
            </a:pPr>
            <a:r>
              <a:rPr lang="en-US" sz="1600" b="1" dirty="0">
                <a:solidFill>
                  <a:srgbClr val="1A1A1D"/>
                </a:solidFill>
                <a:latin typeface="Cambria" pitchFamily="34" charset="0"/>
                <a:ea typeface="Cambria" pitchFamily="34" charset="-122"/>
                <a:cs typeface="Cambria" pitchFamily="34" charset="-120"/>
              </a:rPr>
              <a:t>Mekanik Balap</a:t>
            </a:r>
            <a:endParaRPr lang="en-US" sz="1600" dirty="0"/>
          </a:p>
        </p:txBody>
      </p:sp>
      <p:sp>
        <p:nvSpPr>
          <p:cNvPr id="10" name="Text 7"/>
          <p:cNvSpPr/>
          <p:nvPr/>
        </p:nvSpPr>
        <p:spPr>
          <a:xfrm>
            <a:off x="726948" y="4114800"/>
            <a:ext cx="2148840" cy="1097280"/>
          </a:xfrm>
          <a:prstGeom prst="rect">
            <a:avLst/>
          </a:prstGeom>
          <a:noFill/>
          <a:ln/>
        </p:spPr>
        <p:txBody>
          <a:bodyPr wrap="square" lIns="0" tIns="0" rIns="0" bIns="0" rtlCol="0" anchor="ctr"/>
          <a:lstStyle/>
          <a:p>
            <a:pPr marL="0" indent="0" algn="ctr">
              <a:lnSpc>
                <a:spcPct val="130000"/>
              </a:lnSpc>
              <a:buNone/>
            </a:pPr>
            <a:r>
              <a:rPr lang="en-US" sz="1250" dirty="0">
                <a:solidFill>
                  <a:srgbClr val="6B7280"/>
                </a:solidFill>
                <a:latin typeface="Calibri" pitchFamily="34" charset="0"/>
                <a:ea typeface="Calibri" pitchFamily="34" charset="-122"/>
                <a:cs typeface="Calibri" pitchFamily="34" charset="-120"/>
              </a:rPr>
              <a:t>Mencatat &amp; mengelola setup motor</a:t>
            </a:r>
            <a:endParaRPr lang="en-US" sz="1250" dirty="0"/>
          </a:p>
        </p:txBody>
      </p:sp>
      <p:sp>
        <p:nvSpPr>
          <p:cNvPr id="11" name="Shape 8"/>
          <p:cNvSpPr/>
          <p:nvPr/>
        </p:nvSpPr>
        <p:spPr>
          <a:xfrm>
            <a:off x="3360420" y="1828800"/>
            <a:ext cx="2606040" cy="3566160"/>
          </a:xfrm>
          <a:prstGeom prst="roundRect">
            <a:avLst>
              <a:gd name="adj" fmla="val 4211"/>
            </a:avLst>
          </a:prstGeom>
          <a:solidFill>
            <a:srgbClr val="F2F2F4"/>
          </a:solidFill>
          <a:ln/>
          <a:effectLst>
            <a:outerShdw blurRad="101600" dist="38100" dir="5400000" algn="bl" rotWithShape="0">
              <a:srgbClr val="000000">
                <a:alpha val="12000"/>
              </a:srgbClr>
            </a:outerShdw>
          </a:effectLst>
        </p:spPr>
      </p:sp>
      <p:sp>
        <p:nvSpPr>
          <p:cNvPr id="12" name="Shape 9"/>
          <p:cNvSpPr/>
          <p:nvPr/>
        </p:nvSpPr>
        <p:spPr>
          <a:xfrm>
            <a:off x="4160520" y="2240280"/>
            <a:ext cx="1005840" cy="1005840"/>
          </a:xfrm>
          <a:prstGeom prst="ellipse">
            <a:avLst/>
          </a:prstGeom>
          <a:solidFill>
            <a:srgbClr val="E10600"/>
          </a:solidFill>
          <a:ln/>
        </p:spPr>
      </p:sp>
      <p:pic>
        <p:nvPicPr>
          <p:cNvPr id="13" name="Image 1" descr="preencoded.png"/>
          <p:cNvPicPr>
            <a:picLocks noChangeAspect="1"/>
          </p:cNvPicPr>
          <p:nvPr/>
        </p:nvPicPr>
        <p:blipFill>
          <a:blip r:embed="rId4"/>
          <a:stretch>
            <a:fillRect/>
          </a:stretch>
        </p:blipFill>
        <p:spPr>
          <a:xfrm>
            <a:off x="4370832" y="2450592"/>
            <a:ext cx="585216" cy="585216"/>
          </a:xfrm>
          <a:prstGeom prst="rect">
            <a:avLst/>
          </a:prstGeom>
        </p:spPr>
      </p:pic>
      <p:sp>
        <p:nvSpPr>
          <p:cNvPr id="14" name="Text 10"/>
          <p:cNvSpPr/>
          <p:nvPr/>
        </p:nvSpPr>
        <p:spPr>
          <a:xfrm>
            <a:off x="3497580" y="3520440"/>
            <a:ext cx="2331720" cy="548640"/>
          </a:xfrm>
          <a:prstGeom prst="rect">
            <a:avLst/>
          </a:prstGeom>
          <a:noFill/>
          <a:ln/>
        </p:spPr>
        <p:txBody>
          <a:bodyPr wrap="square" lIns="0" tIns="0" rIns="0" bIns="0" rtlCol="0" anchor="ctr"/>
          <a:lstStyle/>
          <a:p>
            <a:pPr marL="0" indent="0" algn="ctr">
              <a:buNone/>
            </a:pPr>
            <a:r>
              <a:rPr lang="en-US" sz="1600" b="1" dirty="0">
                <a:solidFill>
                  <a:srgbClr val="1A1A1D"/>
                </a:solidFill>
                <a:latin typeface="Cambria" pitchFamily="34" charset="0"/>
                <a:ea typeface="Cambria" pitchFamily="34" charset="-122"/>
                <a:cs typeface="Cambria" pitchFamily="34" charset="-120"/>
              </a:rPr>
              <a:t>Teknisi Tim Racing</a:t>
            </a:r>
            <a:endParaRPr lang="en-US" sz="1600" dirty="0"/>
          </a:p>
        </p:txBody>
      </p:sp>
      <p:sp>
        <p:nvSpPr>
          <p:cNvPr id="15" name="Text 11"/>
          <p:cNvSpPr/>
          <p:nvPr/>
        </p:nvSpPr>
        <p:spPr>
          <a:xfrm>
            <a:off x="3589020" y="4114800"/>
            <a:ext cx="2148840" cy="1097280"/>
          </a:xfrm>
          <a:prstGeom prst="rect">
            <a:avLst/>
          </a:prstGeom>
          <a:noFill/>
          <a:ln/>
        </p:spPr>
        <p:txBody>
          <a:bodyPr wrap="square" lIns="0" tIns="0" rIns="0" bIns="0" rtlCol="0" anchor="ctr"/>
          <a:lstStyle/>
          <a:p>
            <a:pPr marL="0" indent="0" algn="ctr">
              <a:lnSpc>
                <a:spcPct val="130000"/>
              </a:lnSpc>
              <a:buNone/>
            </a:pPr>
            <a:r>
              <a:rPr lang="en-US" sz="1250" dirty="0">
                <a:solidFill>
                  <a:srgbClr val="6B7280"/>
                </a:solidFill>
                <a:latin typeface="Calibri" pitchFamily="34" charset="0"/>
                <a:ea typeface="Calibri" pitchFamily="34" charset="-122"/>
                <a:cs typeface="Calibri" pitchFamily="34" charset="-120"/>
              </a:rPr>
              <a:t>Berkoordinasi menyiapkan setup tim</a:t>
            </a:r>
            <a:endParaRPr lang="en-US" sz="1250" dirty="0"/>
          </a:p>
        </p:txBody>
      </p:sp>
      <p:sp>
        <p:nvSpPr>
          <p:cNvPr id="16" name="Shape 12"/>
          <p:cNvSpPr/>
          <p:nvPr/>
        </p:nvSpPr>
        <p:spPr>
          <a:xfrm>
            <a:off x="6222492" y="1828800"/>
            <a:ext cx="2606040" cy="3566160"/>
          </a:xfrm>
          <a:prstGeom prst="roundRect">
            <a:avLst>
              <a:gd name="adj" fmla="val 4211"/>
            </a:avLst>
          </a:prstGeom>
          <a:solidFill>
            <a:srgbClr val="F2F2F4"/>
          </a:solidFill>
          <a:ln/>
          <a:effectLst>
            <a:outerShdw blurRad="101600" dist="38100" dir="5400000" algn="bl" rotWithShape="0">
              <a:srgbClr val="000000">
                <a:alpha val="12000"/>
              </a:srgbClr>
            </a:outerShdw>
          </a:effectLst>
        </p:spPr>
      </p:sp>
      <p:sp>
        <p:nvSpPr>
          <p:cNvPr id="17" name="Shape 13"/>
          <p:cNvSpPr/>
          <p:nvPr/>
        </p:nvSpPr>
        <p:spPr>
          <a:xfrm>
            <a:off x="7022592" y="2240280"/>
            <a:ext cx="1005840" cy="1005840"/>
          </a:xfrm>
          <a:prstGeom prst="ellipse">
            <a:avLst/>
          </a:prstGeom>
          <a:solidFill>
            <a:srgbClr val="E10600"/>
          </a:solidFill>
          <a:ln/>
        </p:spPr>
      </p:sp>
      <p:pic>
        <p:nvPicPr>
          <p:cNvPr id="18" name="Image 2" descr="preencoded.png"/>
          <p:cNvPicPr>
            <a:picLocks noChangeAspect="1"/>
          </p:cNvPicPr>
          <p:nvPr/>
        </p:nvPicPr>
        <p:blipFill>
          <a:blip r:embed="rId5"/>
          <a:stretch>
            <a:fillRect/>
          </a:stretch>
        </p:blipFill>
        <p:spPr>
          <a:xfrm>
            <a:off x="7232904" y="2450592"/>
            <a:ext cx="585216" cy="585216"/>
          </a:xfrm>
          <a:prstGeom prst="rect">
            <a:avLst/>
          </a:prstGeom>
        </p:spPr>
      </p:pic>
      <p:sp>
        <p:nvSpPr>
          <p:cNvPr id="19" name="Text 14"/>
          <p:cNvSpPr/>
          <p:nvPr/>
        </p:nvSpPr>
        <p:spPr>
          <a:xfrm>
            <a:off x="6359652" y="3520440"/>
            <a:ext cx="2331720" cy="548640"/>
          </a:xfrm>
          <a:prstGeom prst="rect">
            <a:avLst/>
          </a:prstGeom>
          <a:noFill/>
          <a:ln/>
        </p:spPr>
        <p:txBody>
          <a:bodyPr wrap="square" lIns="0" tIns="0" rIns="0" bIns="0" rtlCol="0" anchor="ctr"/>
          <a:lstStyle/>
          <a:p>
            <a:pPr marL="0" indent="0" algn="ctr">
              <a:buNone/>
            </a:pPr>
            <a:r>
              <a:rPr lang="en-US" sz="1600" b="1" dirty="0">
                <a:solidFill>
                  <a:srgbClr val="1A1A1D"/>
                </a:solidFill>
                <a:latin typeface="Cambria" pitchFamily="34" charset="0"/>
                <a:ea typeface="Cambria" pitchFamily="34" charset="-122"/>
                <a:cs typeface="Cambria" pitchFamily="34" charset="-120"/>
              </a:rPr>
              <a:t>Pembalap</a:t>
            </a:r>
            <a:endParaRPr lang="en-US" sz="1600" dirty="0"/>
          </a:p>
        </p:txBody>
      </p:sp>
      <p:sp>
        <p:nvSpPr>
          <p:cNvPr id="20" name="Text 15"/>
          <p:cNvSpPr/>
          <p:nvPr/>
        </p:nvSpPr>
        <p:spPr>
          <a:xfrm>
            <a:off x="6451092" y="4114800"/>
            <a:ext cx="2148840" cy="1097280"/>
          </a:xfrm>
          <a:prstGeom prst="rect">
            <a:avLst/>
          </a:prstGeom>
          <a:noFill/>
          <a:ln/>
        </p:spPr>
        <p:txBody>
          <a:bodyPr wrap="square" lIns="0" tIns="0" rIns="0" bIns="0" rtlCol="0" anchor="ctr"/>
          <a:lstStyle/>
          <a:p>
            <a:pPr marL="0" indent="0" algn="ctr">
              <a:lnSpc>
                <a:spcPct val="130000"/>
              </a:lnSpc>
              <a:buNone/>
            </a:pPr>
            <a:r>
              <a:rPr lang="en-US" sz="1250" dirty="0">
                <a:solidFill>
                  <a:srgbClr val="6B7280"/>
                </a:solidFill>
                <a:latin typeface="Calibri" pitchFamily="34" charset="0"/>
                <a:ea typeface="Calibri" pitchFamily="34" charset="-122"/>
                <a:cs typeface="Calibri" pitchFamily="34" charset="-120"/>
              </a:rPr>
              <a:t>Meninjau setup sesuai kebutuhan</a:t>
            </a:r>
            <a:endParaRPr lang="en-US" sz="1250" dirty="0"/>
          </a:p>
        </p:txBody>
      </p:sp>
      <p:sp>
        <p:nvSpPr>
          <p:cNvPr id="21" name="Shape 16"/>
          <p:cNvSpPr/>
          <p:nvPr/>
        </p:nvSpPr>
        <p:spPr>
          <a:xfrm>
            <a:off x="9084564" y="1828800"/>
            <a:ext cx="2606040" cy="3566160"/>
          </a:xfrm>
          <a:prstGeom prst="roundRect">
            <a:avLst>
              <a:gd name="adj" fmla="val 4211"/>
            </a:avLst>
          </a:prstGeom>
          <a:solidFill>
            <a:srgbClr val="F2F2F4"/>
          </a:solidFill>
          <a:ln/>
          <a:effectLst>
            <a:outerShdw blurRad="101600" dist="38100" dir="5400000" algn="bl" rotWithShape="0">
              <a:srgbClr val="000000">
                <a:alpha val="12000"/>
              </a:srgbClr>
            </a:outerShdw>
          </a:effectLst>
        </p:spPr>
      </p:sp>
      <p:sp>
        <p:nvSpPr>
          <p:cNvPr id="22" name="Shape 17"/>
          <p:cNvSpPr/>
          <p:nvPr/>
        </p:nvSpPr>
        <p:spPr>
          <a:xfrm>
            <a:off x="9884664" y="2240280"/>
            <a:ext cx="1005840" cy="1005840"/>
          </a:xfrm>
          <a:prstGeom prst="ellipse">
            <a:avLst/>
          </a:prstGeom>
          <a:solidFill>
            <a:srgbClr val="E10600"/>
          </a:solidFill>
          <a:ln/>
        </p:spPr>
      </p:sp>
      <p:pic>
        <p:nvPicPr>
          <p:cNvPr id="23" name="Image 3" descr="preencoded.png"/>
          <p:cNvPicPr>
            <a:picLocks noChangeAspect="1"/>
          </p:cNvPicPr>
          <p:nvPr/>
        </p:nvPicPr>
        <p:blipFill>
          <a:blip r:embed="rId6"/>
          <a:stretch>
            <a:fillRect/>
          </a:stretch>
        </p:blipFill>
        <p:spPr>
          <a:xfrm>
            <a:off x="10094976" y="2450592"/>
            <a:ext cx="585216" cy="585216"/>
          </a:xfrm>
          <a:prstGeom prst="rect">
            <a:avLst/>
          </a:prstGeom>
        </p:spPr>
      </p:pic>
      <p:sp>
        <p:nvSpPr>
          <p:cNvPr id="24" name="Text 18"/>
          <p:cNvSpPr/>
          <p:nvPr/>
        </p:nvSpPr>
        <p:spPr>
          <a:xfrm>
            <a:off x="9221724" y="3520440"/>
            <a:ext cx="2331720" cy="548640"/>
          </a:xfrm>
          <a:prstGeom prst="rect">
            <a:avLst/>
          </a:prstGeom>
          <a:noFill/>
          <a:ln/>
        </p:spPr>
        <p:txBody>
          <a:bodyPr wrap="square" lIns="0" tIns="0" rIns="0" bIns="0" rtlCol="0" anchor="ctr"/>
          <a:lstStyle/>
          <a:p>
            <a:pPr marL="0" indent="0" algn="ctr">
              <a:buNone/>
            </a:pPr>
            <a:r>
              <a:rPr lang="en-US" sz="1600" b="1" dirty="0">
                <a:solidFill>
                  <a:srgbClr val="1A1A1D"/>
                </a:solidFill>
                <a:latin typeface="Cambria" pitchFamily="34" charset="0"/>
                <a:ea typeface="Cambria" pitchFamily="34" charset="-122"/>
                <a:cs typeface="Cambria" pitchFamily="34" charset="-120"/>
              </a:rPr>
              <a:t>Mahasiswa</a:t>
            </a:r>
            <a:endParaRPr lang="en-US" sz="1600" dirty="0"/>
          </a:p>
        </p:txBody>
      </p:sp>
      <p:sp>
        <p:nvSpPr>
          <p:cNvPr id="25" name="Text 19"/>
          <p:cNvSpPr/>
          <p:nvPr/>
        </p:nvSpPr>
        <p:spPr>
          <a:xfrm>
            <a:off x="9313164" y="4114800"/>
            <a:ext cx="2148840" cy="1097280"/>
          </a:xfrm>
          <a:prstGeom prst="rect">
            <a:avLst/>
          </a:prstGeom>
          <a:noFill/>
          <a:ln/>
        </p:spPr>
        <p:txBody>
          <a:bodyPr wrap="square" lIns="0" tIns="0" rIns="0" bIns="0" rtlCol="0" anchor="ctr"/>
          <a:lstStyle/>
          <a:p>
            <a:pPr marL="0" indent="0" algn="ctr">
              <a:lnSpc>
                <a:spcPct val="130000"/>
              </a:lnSpc>
              <a:buNone/>
            </a:pPr>
            <a:r>
              <a:rPr lang="en-US" sz="1250" dirty="0">
                <a:solidFill>
                  <a:srgbClr val="6B7280"/>
                </a:solidFill>
                <a:latin typeface="Calibri" pitchFamily="34" charset="0"/>
                <a:ea typeface="Calibri" pitchFamily="34" charset="-122"/>
                <a:cs typeface="Calibri" pitchFamily="34" charset="-120"/>
              </a:rPr>
              <a:t>Belajar konsep setup mesin</a:t>
            </a:r>
            <a:endParaRPr lang="en-US" sz="125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5F6"/>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BATASAN</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Ruang Lingkup</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
        <p:nvSpPr>
          <p:cNvPr id="6" name="Text 4"/>
          <p:cNvSpPr/>
          <p:nvPr/>
        </p:nvSpPr>
        <p:spPr>
          <a:xfrm>
            <a:off x="548640" y="1691640"/>
            <a:ext cx="10789920" cy="457200"/>
          </a:xfrm>
          <a:prstGeom prst="rect">
            <a:avLst/>
          </a:prstGeom>
          <a:noFill/>
          <a:ln/>
        </p:spPr>
        <p:txBody>
          <a:bodyPr wrap="square" lIns="0" tIns="0" rIns="0" bIns="0" rtlCol="0" anchor="ctr"/>
          <a:lstStyle/>
          <a:p>
            <a:pPr marL="0" indent="0">
              <a:buNone/>
            </a:pPr>
            <a:r>
              <a:rPr lang="en-US" sz="1600" i="1" dirty="0">
                <a:solidFill>
                  <a:srgbClr val="2B2B30"/>
                </a:solidFill>
                <a:latin typeface="Calibri" pitchFamily="34" charset="0"/>
                <a:ea typeface="Calibri" pitchFamily="34" charset="-122"/>
                <a:cs typeface="Calibri" pitchFamily="34" charset="-120"/>
              </a:rPr>
              <a:t>Project ini hanya berfokus pada pengelolaan data setup motor balap.</a:t>
            </a:r>
            <a:endParaRPr lang="en-US" sz="1600" dirty="0"/>
          </a:p>
        </p:txBody>
      </p:sp>
      <p:sp>
        <p:nvSpPr>
          <p:cNvPr id="7" name="Shape 5"/>
          <p:cNvSpPr/>
          <p:nvPr/>
        </p:nvSpPr>
        <p:spPr>
          <a:xfrm>
            <a:off x="548640" y="2331720"/>
            <a:ext cx="5349240" cy="3566160"/>
          </a:xfrm>
          <a:prstGeom prst="roundRect">
            <a:avLst>
              <a:gd name="adj" fmla="val 3077"/>
            </a:avLst>
          </a:prstGeom>
          <a:solidFill>
            <a:srgbClr val="FFFFFF"/>
          </a:solidFill>
          <a:ln/>
          <a:effectLst>
            <a:outerShdw blurRad="101600" dist="38100" dir="5400000" algn="bl" rotWithShape="0">
              <a:srgbClr val="000000">
                <a:alpha val="12000"/>
              </a:srgbClr>
            </a:outerShdw>
          </a:effectLst>
        </p:spPr>
      </p:sp>
      <p:pic>
        <p:nvPicPr>
          <p:cNvPr id="8" name="Image 0" descr="preencoded.png"/>
          <p:cNvPicPr>
            <a:picLocks noChangeAspect="1"/>
          </p:cNvPicPr>
          <p:nvPr/>
        </p:nvPicPr>
        <p:blipFill>
          <a:blip r:embed="rId3"/>
          <a:stretch>
            <a:fillRect/>
          </a:stretch>
        </p:blipFill>
        <p:spPr>
          <a:xfrm>
            <a:off x="868680" y="2651760"/>
            <a:ext cx="457200" cy="457200"/>
          </a:xfrm>
          <a:prstGeom prst="rect">
            <a:avLst/>
          </a:prstGeom>
        </p:spPr>
      </p:pic>
      <p:sp>
        <p:nvSpPr>
          <p:cNvPr id="9" name="Text 6"/>
          <p:cNvSpPr/>
          <p:nvPr/>
        </p:nvSpPr>
        <p:spPr>
          <a:xfrm>
            <a:off x="1463040" y="2697480"/>
            <a:ext cx="4206240" cy="457200"/>
          </a:xfrm>
          <a:prstGeom prst="rect">
            <a:avLst/>
          </a:prstGeom>
          <a:noFill/>
          <a:ln/>
        </p:spPr>
        <p:txBody>
          <a:bodyPr wrap="square" lIns="0" tIns="0" rIns="0" bIns="0" rtlCol="0" anchor="ctr"/>
          <a:lstStyle/>
          <a:p>
            <a:pPr marL="0" indent="0">
              <a:buNone/>
            </a:pPr>
            <a:r>
              <a:rPr lang="en-US" sz="1700" b="1" dirty="0">
                <a:solidFill>
                  <a:srgbClr val="16A34A"/>
                </a:solidFill>
                <a:latin typeface="Cambria" pitchFamily="34" charset="0"/>
                <a:ea typeface="Cambria" pitchFamily="34" charset="-122"/>
                <a:cs typeface="Cambria" pitchFamily="34" charset="-120"/>
              </a:rPr>
              <a:t>Termasuk Dalam Lingkup</a:t>
            </a:r>
            <a:endParaRPr lang="en-US" sz="1700" dirty="0"/>
          </a:p>
        </p:txBody>
      </p:sp>
      <p:sp>
        <p:nvSpPr>
          <p:cNvPr id="10" name="Text 7"/>
          <p:cNvSpPr/>
          <p:nvPr/>
        </p:nvSpPr>
        <p:spPr>
          <a:xfrm>
            <a:off x="914400" y="3337560"/>
            <a:ext cx="4663440" cy="2377440"/>
          </a:xfrm>
          <a:prstGeom prst="rect">
            <a:avLst/>
          </a:prstGeom>
          <a:noFill/>
          <a:ln/>
        </p:spPr>
        <p:txBody>
          <a:bodyPr wrap="square" lIns="0" tIns="0" rIns="0" bIns="0" rtlCol="0" anchor="ctr"/>
          <a:lstStyle/>
          <a:p>
            <a:pPr marL="342900" indent="-342900">
              <a:lnSpc>
                <a:spcPct val="160000"/>
              </a:lnSpc>
              <a:buSzPct val="100000"/>
              <a:buChar char="•"/>
            </a:pPr>
            <a:r>
              <a:rPr lang="en-US" sz="1400" dirty="0">
                <a:solidFill>
                  <a:srgbClr val="2B2B30"/>
                </a:solidFill>
                <a:latin typeface="Calibri" pitchFamily="34" charset="0"/>
                <a:ea typeface="Calibri" pitchFamily="34" charset="-122"/>
                <a:cs typeface="Calibri" pitchFamily="34" charset="-120"/>
              </a:rPr>
              <a:t>Pengelolaan data setup motor (CRUD)</a:t>
            </a:r>
            <a:endParaRPr lang="en-US" sz="1400" dirty="0"/>
          </a:p>
          <a:p>
            <a:pPr marL="342900" indent="-342900">
              <a:lnSpc>
                <a:spcPct val="160000"/>
              </a:lnSpc>
              <a:buSzPct val="100000"/>
              <a:buChar char="•"/>
            </a:pPr>
            <a:r>
              <a:rPr lang="en-US" sz="1400" dirty="0">
                <a:solidFill>
                  <a:srgbClr val="2B2B30"/>
                </a:solidFill>
                <a:latin typeface="Calibri" pitchFamily="34" charset="0"/>
                <a:ea typeface="Calibri" pitchFamily="34" charset="-122"/>
                <a:cs typeface="Calibri" pitchFamily="34" charset="-120"/>
              </a:rPr>
              <a:t>Penyimpanan berbasis file JSON</a:t>
            </a:r>
            <a:endParaRPr lang="en-US" sz="1400" dirty="0"/>
          </a:p>
          <a:p>
            <a:pPr marL="342900" indent="-342900">
              <a:lnSpc>
                <a:spcPct val="160000"/>
              </a:lnSpc>
              <a:buSzPct val="100000"/>
              <a:buChar char="•"/>
            </a:pPr>
            <a:r>
              <a:rPr lang="en-US" sz="1400" dirty="0">
                <a:solidFill>
                  <a:srgbClr val="2B2B30"/>
                </a:solidFill>
                <a:latin typeface="Calibri" pitchFamily="34" charset="0"/>
                <a:ea typeface="Calibri" pitchFamily="34" charset="-122"/>
                <a:cs typeface="Calibri" pitchFamily="34" charset="-120"/>
              </a:rPr>
              <a:t>Pencarian, filter, dan sorting data</a:t>
            </a:r>
            <a:endParaRPr lang="en-US" sz="1400" dirty="0"/>
          </a:p>
          <a:p>
            <a:pPr marL="342900" indent="-342900">
              <a:lnSpc>
                <a:spcPct val="160000"/>
              </a:lnSpc>
              <a:buSzPct val="100000"/>
              <a:buChar char="•"/>
            </a:pPr>
            <a:r>
              <a:rPr lang="en-US" sz="1400" dirty="0">
                <a:solidFill>
                  <a:srgbClr val="2B2B30"/>
                </a:solidFill>
                <a:latin typeface="Calibri" pitchFamily="34" charset="0"/>
                <a:ea typeface="Calibri" pitchFamily="34" charset="-122"/>
                <a:cs typeface="Calibri" pitchFamily="34" charset="-120"/>
              </a:rPr>
              <a:t>Export data ke PDF &amp; Excel</a:t>
            </a:r>
            <a:endParaRPr lang="en-US" sz="1400" dirty="0"/>
          </a:p>
        </p:txBody>
      </p:sp>
      <p:sp>
        <p:nvSpPr>
          <p:cNvPr id="11" name="Shape 8"/>
          <p:cNvSpPr/>
          <p:nvPr/>
        </p:nvSpPr>
        <p:spPr>
          <a:xfrm>
            <a:off x="6263640" y="2331720"/>
            <a:ext cx="5349240" cy="3566160"/>
          </a:xfrm>
          <a:prstGeom prst="roundRect">
            <a:avLst>
              <a:gd name="adj" fmla="val 3077"/>
            </a:avLst>
          </a:prstGeom>
          <a:solidFill>
            <a:srgbClr val="FFFFFF"/>
          </a:solidFill>
          <a:ln/>
          <a:effectLst>
            <a:outerShdw blurRad="101600" dist="38100" dir="5400000" algn="bl" rotWithShape="0">
              <a:srgbClr val="000000">
                <a:alpha val="12000"/>
              </a:srgbClr>
            </a:outerShdw>
          </a:effectLst>
        </p:spPr>
      </p:sp>
      <p:pic>
        <p:nvPicPr>
          <p:cNvPr id="12" name="Image 1" descr="preencoded.png"/>
          <p:cNvPicPr>
            <a:picLocks noChangeAspect="1"/>
          </p:cNvPicPr>
          <p:nvPr/>
        </p:nvPicPr>
        <p:blipFill>
          <a:blip r:embed="rId4"/>
          <a:stretch>
            <a:fillRect/>
          </a:stretch>
        </p:blipFill>
        <p:spPr>
          <a:xfrm>
            <a:off x="6583680" y="2651760"/>
            <a:ext cx="457200" cy="457200"/>
          </a:xfrm>
          <a:prstGeom prst="rect">
            <a:avLst/>
          </a:prstGeom>
        </p:spPr>
      </p:pic>
      <p:sp>
        <p:nvSpPr>
          <p:cNvPr id="13" name="Text 9"/>
          <p:cNvSpPr/>
          <p:nvPr/>
        </p:nvSpPr>
        <p:spPr>
          <a:xfrm>
            <a:off x="7178040" y="2697480"/>
            <a:ext cx="4206240" cy="457200"/>
          </a:xfrm>
          <a:prstGeom prst="rect">
            <a:avLst/>
          </a:prstGeom>
          <a:noFill/>
          <a:ln/>
        </p:spPr>
        <p:txBody>
          <a:bodyPr wrap="square" lIns="0" tIns="0" rIns="0" bIns="0" rtlCol="0" anchor="ctr"/>
          <a:lstStyle/>
          <a:p>
            <a:pPr marL="0" indent="0">
              <a:buNone/>
            </a:pPr>
            <a:r>
              <a:rPr lang="en-US" sz="1700" b="1" dirty="0">
                <a:solidFill>
                  <a:srgbClr val="DC2626"/>
                </a:solidFill>
                <a:latin typeface="Cambria" pitchFamily="34" charset="0"/>
                <a:ea typeface="Cambria" pitchFamily="34" charset="-122"/>
                <a:cs typeface="Cambria" pitchFamily="34" charset="-120"/>
              </a:rPr>
              <a:t>Tidak Termasuk Dalam Lingkup</a:t>
            </a:r>
            <a:endParaRPr lang="en-US" sz="1700" dirty="0"/>
          </a:p>
        </p:txBody>
      </p:sp>
      <p:sp>
        <p:nvSpPr>
          <p:cNvPr id="14" name="Text 10"/>
          <p:cNvSpPr/>
          <p:nvPr/>
        </p:nvSpPr>
        <p:spPr>
          <a:xfrm>
            <a:off x="6629400" y="3337560"/>
            <a:ext cx="4663440" cy="2377440"/>
          </a:xfrm>
          <a:prstGeom prst="rect">
            <a:avLst/>
          </a:prstGeom>
          <a:noFill/>
          <a:ln/>
        </p:spPr>
        <p:txBody>
          <a:bodyPr wrap="square" lIns="0" tIns="0" rIns="0" bIns="0" rtlCol="0" anchor="ctr"/>
          <a:lstStyle/>
          <a:p>
            <a:pPr marL="342900" indent="-342900">
              <a:lnSpc>
                <a:spcPct val="160000"/>
              </a:lnSpc>
              <a:buSzPct val="100000"/>
              <a:buChar char="•"/>
            </a:pPr>
            <a:r>
              <a:rPr lang="en-US" sz="1400" dirty="0">
                <a:solidFill>
                  <a:srgbClr val="2B2B30"/>
                </a:solidFill>
                <a:latin typeface="Calibri" pitchFamily="34" charset="0"/>
                <a:ea typeface="Calibri" pitchFamily="34" charset="-122"/>
                <a:cs typeface="Calibri" pitchFamily="34" charset="-120"/>
              </a:rPr>
              <a:t>Login multi user</a:t>
            </a:r>
            <a:endParaRPr lang="en-US" sz="1400" dirty="0"/>
          </a:p>
          <a:p>
            <a:pPr marL="342900" indent="-342900">
              <a:lnSpc>
                <a:spcPct val="160000"/>
              </a:lnSpc>
              <a:buSzPct val="100000"/>
              <a:buChar char="•"/>
            </a:pPr>
            <a:r>
              <a:rPr lang="en-US" sz="1400" dirty="0">
                <a:solidFill>
                  <a:srgbClr val="2B2B30"/>
                </a:solidFill>
                <a:latin typeface="Calibri" pitchFamily="34" charset="0"/>
                <a:ea typeface="Calibri" pitchFamily="34" charset="-122"/>
                <a:cs typeface="Calibri" pitchFamily="34" charset="-120"/>
              </a:rPr>
              <a:t>Database SQL</a:t>
            </a:r>
            <a:endParaRPr lang="en-US" sz="1400" dirty="0"/>
          </a:p>
          <a:p>
            <a:pPr marL="342900" indent="-342900">
              <a:lnSpc>
                <a:spcPct val="160000"/>
              </a:lnSpc>
              <a:buSzPct val="100000"/>
              <a:buChar char="•"/>
            </a:pPr>
            <a:r>
              <a:rPr lang="en-US" sz="1400" dirty="0">
                <a:solidFill>
                  <a:srgbClr val="2B2B30"/>
                </a:solidFill>
                <a:latin typeface="Calibri" pitchFamily="34" charset="0"/>
                <a:ea typeface="Calibri" pitchFamily="34" charset="-122"/>
                <a:cs typeface="Calibri" pitchFamily="34" charset="-120"/>
              </a:rPr>
              <a:t>Sistem pembayaran &amp; chat</a:t>
            </a:r>
            <a:endParaRPr lang="en-US" sz="1400" dirty="0"/>
          </a:p>
          <a:p>
            <a:pPr marL="342900" indent="-342900">
              <a:lnSpc>
                <a:spcPct val="160000"/>
              </a:lnSpc>
              <a:buSzPct val="100000"/>
              <a:buChar char="•"/>
            </a:pPr>
            <a:r>
              <a:rPr lang="en-US" sz="1400" dirty="0">
                <a:solidFill>
                  <a:srgbClr val="2B2B30"/>
                </a:solidFill>
                <a:latin typeface="Calibri" pitchFamily="34" charset="0"/>
                <a:ea typeface="Calibri" pitchFamily="34" charset="-122"/>
                <a:cs typeface="Calibri" pitchFamily="34" charset="-120"/>
              </a:rPr>
              <a:t>GPS dan cloud storage</a:t>
            </a:r>
            <a:endParaRPr lang="en-US" sz="14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TECH STACK</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Teknologi yang Digunakan</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783080"/>
            <a:ext cx="3520440" cy="1920240"/>
          </a:xfrm>
          <a:prstGeom prst="roundRect">
            <a:avLst>
              <a:gd name="adj" fmla="val 4762"/>
            </a:avLst>
          </a:prstGeom>
          <a:solidFill>
            <a:srgbClr val="F2F2F4"/>
          </a:solidFill>
          <a:ln/>
          <a:effectLst>
            <a:outerShdw blurRad="101600" dist="38100" dir="54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822960" y="2148840"/>
            <a:ext cx="566928" cy="566928"/>
          </a:xfrm>
          <a:prstGeom prst="rect">
            <a:avLst/>
          </a:prstGeom>
        </p:spPr>
      </p:pic>
      <p:sp>
        <p:nvSpPr>
          <p:cNvPr id="8" name="Text 5"/>
          <p:cNvSpPr/>
          <p:nvPr/>
        </p:nvSpPr>
        <p:spPr>
          <a:xfrm>
            <a:off x="1554480" y="2103120"/>
            <a:ext cx="2331720" cy="411480"/>
          </a:xfrm>
          <a:prstGeom prst="rect">
            <a:avLst/>
          </a:prstGeom>
          <a:noFill/>
          <a:ln/>
        </p:spPr>
        <p:txBody>
          <a:bodyPr wrap="square" lIns="0" tIns="0" rIns="0" bIns="0" rtlCol="0" anchor="ctr"/>
          <a:lstStyle/>
          <a:p>
            <a:pPr marL="0" indent="0">
              <a:buNone/>
            </a:pPr>
            <a:r>
              <a:rPr lang="en-US" sz="1600" b="1" dirty="0">
                <a:solidFill>
                  <a:srgbClr val="1A1A1D"/>
                </a:solidFill>
                <a:latin typeface="Cambria" pitchFamily="34" charset="0"/>
                <a:ea typeface="Cambria" pitchFamily="34" charset="-122"/>
                <a:cs typeface="Cambria" pitchFamily="34" charset="-120"/>
              </a:rPr>
              <a:t>Next.js 15</a:t>
            </a:r>
            <a:endParaRPr lang="en-US" sz="1600" dirty="0"/>
          </a:p>
        </p:txBody>
      </p:sp>
      <p:sp>
        <p:nvSpPr>
          <p:cNvPr id="9" name="Text 6"/>
          <p:cNvSpPr/>
          <p:nvPr/>
        </p:nvSpPr>
        <p:spPr>
          <a:xfrm>
            <a:off x="1554480" y="2560320"/>
            <a:ext cx="2331720" cy="36576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Framework</a:t>
            </a:r>
            <a:endParaRPr lang="en-US" sz="1250" dirty="0"/>
          </a:p>
        </p:txBody>
      </p:sp>
      <p:sp>
        <p:nvSpPr>
          <p:cNvPr id="10" name="Shape 7"/>
          <p:cNvSpPr/>
          <p:nvPr/>
        </p:nvSpPr>
        <p:spPr>
          <a:xfrm>
            <a:off x="4297680" y="1783080"/>
            <a:ext cx="3520440" cy="1920240"/>
          </a:xfrm>
          <a:prstGeom prst="roundRect">
            <a:avLst>
              <a:gd name="adj" fmla="val 4762"/>
            </a:avLst>
          </a:prstGeom>
          <a:solidFill>
            <a:srgbClr val="F2F2F4"/>
          </a:solidFill>
          <a:ln/>
          <a:effectLst>
            <a:outerShdw blurRad="101600" dist="38100" dir="54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4572000" y="2148840"/>
            <a:ext cx="566928" cy="566928"/>
          </a:xfrm>
          <a:prstGeom prst="rect">
            <a:avLst/>
          </a:prstGeom>
        </p:spPr>
      </p:pic>
      <p:sp>
        <p:nvSpPr>
          <p:cNvPr id="12" name="Text 8"/>
          <p:cNvSpPr/>
          <p:nvPr/>
        </p:nvSpPr>
        <p:spPr>
          <a:xfrm>
            <a:off x="5303520" y="2103120"/>
            <a:ext cx="2331720" cy="411480"/>
          </a:xfrm>
          <a:prstGeom prst="rect">
            <a:avLst/>
          </a:prstGeom>
          <a:noFill/>
          <a:ln/>
        </p:spPr>
        <p:txBody>
          <a:bodyPr wrap="square" lIns="0" tIns="0" rIns="0" bIns="0" rtlCol="0" anchor="ctr"/>
          <a:lstStyle/>
          <a:p>
            <a:pPr marL="0" indent="0">
              <a:buNone/>
            </a:pPr>
            <a:r>
              <a:rPr lang="en-US" sz="1600" b="1" dirty="0">
                <a:solidFill>
                  <a:srgbClr val="1A1A1D"/>
                </a:solidFill>
                <a:latin typeface="Cambria" pitchFamily="34" charset="0"/>
                <a:ea typeface="Cambria" pitchFamily="34" charset="-122"/>
                <a:cs typeface="Cambria" pitchFamily="34" charset="-120"/>
              </a:rPr>
              <a:t>TypeScript</a:t>
            </a:r>
            <a:endParaRPr lang="en-US" sz="1600" dirty="0"/>
          </a:p>
        </p:txBody>
      </p:sp>
      <p:sp>
        <p:nvSpPr>
          <p:cNvPr id="13" name="Text 9"/>
          <p:cNvSpPr/>
          <p:nvPr/>
        </p:nvSpPr>
        <p:spPr>
          <a:xfrm>
            <a:off x="5303520" y="2560320"/>
            <a:ext cx="2331720" cy="36576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Bahasa Pemrograman</a:t>
            </a:r>
            <a:endParaRPr lang="en-US" sz="1250" dirty="0"/>
          </a:p>
        </p:txBody>
      </p:sp>
      <p:sp>
        <p:nvSpPr>
          <p:cNvPr id="14" name="Shape 10"/>
          <p:cNvSpPr/>
          <p:nvPr/>
        </p:nvSpPr>
        <p:spPr>
          <a:xfrm>
            <a:off x="8046720" y="1783080"/>
            <a:ext cx="3520440" cy="1920240"/>
          </a:xfrm>
          <a:prstGeom prst="roundRect">
            <a:avLst>
              <a:gd name="adj" fmla="val 4762"/>
            </a:avLst>
          </a:prstGeom>
          <a:solidFill>
            <a:srgbClr val="F2F2F4"/>
          </a:solidFill>
          <a:ln/>
          <a:effectLst>
            <a:outerShdw blurRad="101600" dist="38100" dir="5400000" algn="bl" rotWithShape="0">
              <a:srgbClr val="000000">
                <a:alpha val="12000"/>
              </a:srgbClr>
            </a:outerShdw>
          </a:effectLst>
        </p:spPr>
      </p:sp>
      <p:pic>
        <p:nvPicPr>
          <p:cNvPr id="15" name="Image 2" descr="preencoded.png"/>
          <p:cNvPicPr>
            <a:picLocks noChangeAspect="1"/>
          </p:cNvPicPr>
          <p:nvPr/>
        </p:nvPicPr>
        <p:blipFill>
          <a:blip r:embed="rId5"/>
          <a:stretch>
            <a:fillRect/>
          </a:stretch>
        </p:blipFill>
        <p:spPr>
          <a:xfrm>
            <a:off x="8321040" y="2148840"/>
            <a:ext cx="566928" cy="566928"/>
          </a:xfrm>
          <a:prstGeom prst="rect">
            <a:avLst/>
          </a:prstGeom>
        </p:spPr>
      </p:pic>
      <p:sp>
        <p:nvSpPr>
          <p:cNvPr id="16" name="Text 11"/>
          <p:cNvSpPr/>
          <p:nvPr/>
        </p:nvSpPr>
        <p:spPr>
          <a:xfrm>
            <a:off x="9052560" y="2103120"/>
            <a:ext cx="2331720" cy="411480"/>
          </a:xfrm>
          <a:prstGeom prst="rect">
            <a:avLst/>
          </a:prstGeom>
          <a:noFill/>
          <a:ln/>
        </p:spPr>
        <p:txBody>
          <a:bodyPr wrap="square" lIns="0" tIns="0" rIns="0" bIns="0" rtlCol="0" anchor="ctr"/>
          <a:lstStyle/>
          <a:p>
            <a:pPr marL="0" indent="0">
              <a:buNone/>
            </a:pPr>
            <a:r>
              <a:rPr lang="en-US" sz="1600" b="1" dirty="0">
                <a:solidFill>
                  <a:srgbClr val="1A1A1D"/>
                </a:solidFill>
                <a:latin typeface="Cambria" pitchFamily="34" charset="0"/>
                <a:ea typeface="Cambria" pitchFamily="34" charset="-122"/>
                <a:cs typeface="Cambria" pitchFamily="34" charset="-120"/>
              </a:rPr>
              <a:t>Tailwind CSS</a:t>
            </a:r>
            <a:endParaRPr lang="en-US" sz="1600" dirty="0"/>
          </a:p>
        </p:txBody>
      </p:sp>
      <p:sp>
        <p:nvSpPr>
          <p:cNvPr id="17" name="Text 12"/>
          <p:cNvSpPr/>
          <p:nvPr/>
        </p:nvSpPr>
        <p:spPr>
          <a:xfrm>
            <a:off x="9052560" y="2560320"/>
            <a:ext cx="2331720" cy="36576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Styling</a:t>
            </a:r>
            <a:endParaRPr lang="en-US" sz="1250" dirty="0"/>
          </a:p>
        </p:txBody>
      </p:sp>
      <p:sp>
        <p:nvSpPr>
          <p:cNvPr id="18" name="Shape 13"/>
          <p:cNvSpPr/>
          <p:nvPr/>
        </p:nvSpPr>
        <p:spPr>
          <a:xfrm>
            <a:off x="548640" y="3977640"/>
            <a:ext cx="3520440" cy="1920240"/>
          </a:xfrm>
          <a:prstGeom prst="roundRect">
            <a:avLst>
              <a:gd name="adj" fmla="val 4762"/>
            </a:avLst>
          </a:prstGeom>
          <a:solidFill>
            <a:srgbClr val="F2F2F4"/>
          </a:solidFill>
          <a:ln/>
          <a:effectLst>
            <a:outerShdw blurRad="101600" dist="38100" dir="5400000" algn="bl" rotWithShape="0">
              <a:srgbClr val="000000">
                <a:alpha val="12000"/>
              </a:srgbClr>
            </a:outerShdw>
          </a:effectLst>
        </p:spPr>
      </p:sp>
      <p:pic>
        <p:nvPicPr>
          <p:cNvPr id="19" name="Image 3" descr="preencoded.png"/>
          <p:cNvPicPr>
            <a:picLocks noChangeAspect="1"/>
          </p:cNvPicPr>
          <p:nvPr/>
        </p:nvPicPr>
        <p:blipFill>
          <a:blip r:embed="rId6"/>
          <a:stretch>
            <a:fillRect/>
          </a:stretch>
        </p:blipFill>
        <p:spPr>
          <a:xfrm>
            <a:off x="822960" y="4343400"/>
            <a:ext cx="566928" cy="566928"/>
          </a:xfrm>
          <a:prstGeom prst="rect">
            <a:avLst/>
          </a:prstGeom>
        </p:spPr>
      </p:pic>
      <p:sp>
        <p:nvSpPr>
          <p:cNvPr id="20" name="Text 14"/>
          <p:cNvSpPr/>
          <p:nvPr/>
        </p:nvSpPr>
        <p:spPr>
          <a:xfrm>
            <a:off x="1554480" y="4297680"/>
            <a:ext cx="2331720" cy="411480"/>
          </a:xfrm>
          <a:prstGeom prst="rect">
            <a:avLst/>
          </a:prstGeom>
          <a:noFill/>
          <a:ln/>
        </p:spPr>
        <p:txBody>
          <a:bodyPr wrap="square" lIns="0" tIns="0" rIns="0" bIns="0" rtlCol="0" anchor="ctr"/>
          <a:lstStyle/>
          <a:p>
            <a:pPr marL="0" indent="0">
              <a:buNone/>
            </a:pPr>
            <a:r>
              <a:rPr lang="en-US" sz="1600" b="1" dirty="0">
                <a:solidFill>
                  <a:srgbClr val="1A1A1D"/>
                </a:solidFill>
                <a:latin typeface="Cambria" pitchFamily="34" charset="0"/>
                <a:ea typeface="Cambria" pitchFamily="34" charset="-122"/>
                <a:cs typeface="Cambria" pitchFamily="34" charset="-120"/>
              </a:rPr>
              <a:t>JSON File</a:t>
            </a:r>
            <a:endParaRPr lang="en-US" sz="1600" dirty="0"/>
          </a:p>
        </p:txBody>
      </p:sp>
      <p:sp>
        <p:nvSpPr>
          <p:cNvPr id="21" name="Text 15"/>
          <p:cNvSpPr/>
          <p:nvPr/>
        </p:nvSpPr>
        <p:spPr>
          <a:xfrm>
            <a:off x="1554480" y="4754880"/>
            <a:ext cx="2331720" cy="36576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Penyimpanan Data</a:t>
            </a:r>
            <a:endParaRPr lang="en-US" sz="1250" dirty="0"/>
          </a:p>
        </p:txBody>
      </p:sp>
      <p:sp>
        <p:nvSpPr>
          <p:cNvPr id="22" name="Shape 16"/>
          <p:cNvSpPr/>
          <p:nvPr/>
        </p:nvSpPr>
        <p:spPr>
          <a:xfrm>
            <a:off x="4297680" y="3977640"/>
            <a:ext cx="3520440" cy="1920240"/>
          </a:xfrm>
          <a:prstGeom prst="roundRect">
            <a:avLst>
              <a:gd name="adj" fmla="val 4762"/>
            </a:avLst>
          </a:prstGeom>
          <a:solidFill>
            <a:srgbClr val="F2F2F4"/>
          </a:solidFill>
          <a:ln/>
          <a:effectLst>
            <a:outerShdw blurRad="101600" dist="38100" dir="5400000" algn="bl" rotWithShape="0">
              <a:srgbClr val="000000">
                <a:alpha val="12000"/>
              </a:srgbClr>
            </a:outerShdw>
          </a:effectLst>
        </p:spPr>
      </p:sp>
      <p:pic>
        <p:nvPicPr>
          <p:cNvPr id="23" name="Image 4" descr="preencoded.png"/>
          <p:cNvPicPr>
            <a:picLocks noChangeAspect="1"/>
          </p:cNvPicPr>
          <p:nvPr/>
        </p:nvPicPr>
        <p:blipFill>
          <a:blip r:embed="rId7"/>
          <a:stretch>
            <a:fillRect/>
          </a:stretch>
        </p:blipFill>
        <p:spPr>
          <a:xfrm>
            <a:off x="4572000" y="4343400"/>
            <a:ext cx="566928" cy="566928"/>
          </a:xfrm>
          <a:prstGeom prst="rect">
            <a:avLst/>
          </a:prstGeom>
        </p:spPr>
      </p:pic>
      <p:sp>
        <p:nvSpPr>
          <p:cNvPr id="24" name="Text 17"/>
          <p:cNvSpPr/>
          <p:nvPr/>
        </p:nvSpPr>
        <p:spPr>
          <a:xfrm>
            <a:off x="5303520" y="4297680"/>
            <a:ext cx="2331720" cy="411480"/>
          </a:xfrm>
          <a:prstGeom prst="rect">
            <a:avLst/>
          </a:prstGeom>
          <a:noFill/>
          <a:ln/>
        </p:spPr>
        <p:txBody>
          <a:bodyPr wrap="square" lIns="0" tIns="0" rIns="0" bIns="0" rtlCol="0" anchor="ctr"/>
          <a:lstStyle/>
          <a:p>
            <a:pPr marL="0" indent="0">
              <a:buNone/>
            </a:pPr>
            <a:r>
              <a:rPr lang="en-US" sz="1600" b="1" dirty="0">
                <a:solidFill>
                  <a:srgbClr val="1A1A1D"/>
                </a:solidFill>
                <a:latin typeface="Cambria" pitchFamily="34" charset="0"/>
                <a:ea typeface="Cambria" pitchFamily="34" charset="-122"/>
                <a:cs typeface="Cambria" pitchFamily="34" charset="-120"/>
              </a:rPr>
              <a:t>Route Handler</a:t>
            </a:r>
            <a:endParaRPr lang="en-US" sz="1600" dirty="0"/>
          </a:p>
        </p:txBody>
      </p:sp>
      <p:sp>
        <p:nvSpPr>
          <p:cNvPr id="25" name="Text 18"/>
          <p:cNvSpPr/>
          <p:nvPr/>
        </p:nvSpPr>
        <p:spPr>
          <a:xfrm>
            <a:off x="5303520" y="4754880"/>
            <a:ext cx="2331720" cy="36576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API</a:t>
            </a:r>
            <a:endParaRPr lang="en-US" sz="1250" dirty="0"/>
          </a:p>
        </p:txBody>
      </p:sp>
      <p:sp>
        <p:nvSpPr>
          <p:cNvPr id="26" name="Shape 19"/>
          <p:cNvSpPr/>
          <p:nvPr/>
        </p:nvSpPr>
        <p:spPr>
          <a:xfrm>
            <a:off x="8046720" y="3977640"/>
            <a:ext cx="3520440" cy="1920240"/>
          </a:xfrm>
          <a:prstGeom prst="roundRect">
            <a:avLst>
              <a:gd name="adj" fmla="val 4762"/>
            </a:avLst>
          </a:prstGeom>
          <a:solidFill>
            <a:srgbClr val="F2F2F4"/>
          </a:solidFill>
          <a:ln/>
          <a:effectLst>
            <a:outerShdw blurRad="101600" dist="38100" dir="5400000" algn="bl" rotWithShape="0">
              <a:srgbClr val="000000">
                <a:alpha val="12000"/>
              </a:srgbClr>
            </a:outerShdw>
          </a:effectLst>
        </p:spPr>
      </p:sp>
      <p:pic>
        <p:nvPicPr>
          <p:cNvPr id="27" name="Image 5" descr="preencoded.png"/>
          <p:cNvPicPr>
            <a:picLocks noChangeAspect="1"/>
          </p:cNvPicPr>
          <p:nvPr/>
        </p:nvPicPr>
        <p:blipFill>
          <a:blip r:embed="rId8"/>
          <a:stretch>
            <a:fillRect/>
          </a:stretch>
        </p:blipFill>
        <p:spPr>
          <a:xfrm>
            <a:off x="8321040" y="4343400"/>
            <a:ext cx="566928" cy="566928"/>
          </a:xfrm>
          <a:prstGeom prst="rect">
            <a:avLst/>
          </a:prstGeom>
        </p:spPr>
      </p:pic>
      <p:sp>
        <p:nvSpPr>
          <p:cNvPr id="28" name="Text 20"/>
          <p:cNvSpPr/>
          <p:nvPr/>
        </p:nvSpPr>
        <p:spPr>
          <a:xfrm>
            <a:off x="9052560" y="4297680"/>
            <a:ext cx="2331720" cy="411480"/>
          </a:xfrm>
          <a:prstGeom prst="rect">
            <a:avLst/>
          </a:prstGeom>
          <a:noFill/>
          <a:ln/>
        </p:spPr>
        <p:txBody>
          <a:bodyPr wrap="square" lIns="0" tIns="0" rIns="0" bIns="0" rtlCol="0" anchor="ctr"/>
          <a:lstStyle/>
          <a:p>
            <a:pPr marL="0" indent="0">
              <a:buNone/>
            </a:pPr>
            <a:r>
              <a:rPr lang="en-US" sz="1600" b="1" dirty="0">
                <a:solidFill>
                  <a:srgbClr val="1A1A1D"/>
                </a:solidFill>
                <a:latin typeface="Cambria" pitchFamily="34" charset="0"/>
                <a:ea typeface="Cambria" pitchFamily="34" charset="-122"/>
                <a:cs typeface="Cambria" pitchFamily="34" charset="-120"/>
              </a:rPr>
              <a:t>Vercel</a:t>
            </a:r>
            <a:endParaRPr lang="en-US" sz="1600" dirty="0"/>
          </a:p>
        </p:txBody>
      </p:sp>
      <p:sp>
        <p:nvSpPr>
          <p:cNvPr id="29" name="Text 21"/>
          <p:cNvSpPr/>
          <p:nvPr/>
        </p:nvSpPr>
        <p:spPr>
          <a:xfrm>
            <a:off x="9052560" y="4754880"/>
            <a:ext cx="2331720" cy="365760"/>
          </a:xfrm>
          <a:prstGeom prst="rect">
            <a:avLst/>
          </a:prstGeom>
          <a:noFill/>
          <a:ln/>
        </p:spPr>
        <p:txBody>
          <a:bodyPr wrap="square" lIns="0" tIns="0" rIns="0" bIns="0" rtlCol="0" anchor="ctr"/>
          <a:lstStyle/>
          <a:p>
            <a:pPr marL="0" indent="0">
              <a:buNone/>
            </a:pPr>
            <a:r>
              <a:rPr lang="en-US" sz="1250" dirty="0">
                <a:solidFill>
                  <a:srgbClr val="6B7280"/>
                </a:solidFill>
                <a:latin typeface="Calibri" pitchFamily="34" charset="0"/>
                <a:ea typeface="Calibri" pitchFamily="34" charset="-122"/>
                <a:cs typeface="Calibri" pitchFamily="34" charset="-120"/>
              </a:rPr>
              <a:t>Deployment</a:t>
            </a:r>
            <a:endParaRPr lang="en-US" sz="125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1A1D"/>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1D"/>
          </a:solidFill>
          <a:ln/>
        </p:spPr>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SISTEM</a:t>
            </a:r>
            <a:endParaRPr lang="en-US" sz="1200" dirty="0"/>
          </a:p>
        </p:txBody>
      </p:sp>
      <p:sp>
        <p:nvSpPr>
          <p:cNvPr id="4" name="Text 2"/>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Arsitektur Sistem</a:t>
            </a:r>
            <a:endParaRPr lang="en-US" sz="3200" dirty="0"/>
          </a:p>
        </p:txBody>
      </p:sp>
      <p:sp>
        <p:nvSpPr>
          <p:cNvPr id="5" name="Text 3"/>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6" name="Text 4"/>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
        <p:nvSpPr>
          <p:cNvPr id="7" name="Shape 5"/>
          <p:cNvSpPr/>
          <p:nvPr/>
        </p:nvSpPr>
        <p:spPr>
          <a:xfrm>
            <a:off x="3991356" y="1691640"/>
            <a:ext cx="4206240" cy="868680"/>
          </a:xfrm>
          <a:prstGeom prst="roundRect">
            <a:avLst>
              <a:gd name="adj" fmla="val 10526"/>
            </a:avLst>
          </a:prstGeom>
          <a:solidFill>
            <a:srgbClr val="2B2B30"/>
          </a:solidFill>
          <a:ln w="15875">
            <a:solidFill>
              <a:srgbClr val="E10600"/>
            </a:solidFill>
            <a:prstDash val="solid"/>
          </a:ln>
        </p:spPr>
      </p:sp>
      <p:pic>
        <p:nvPicPr>
          <p:cNvPr id="8" name="Image 0" descr="preencoded.png"/>
          <p:cNvPicPr>
            <a:picLocks noChangeAspect="1"/>
          </p:cNvPicPr>
          <p:nvPr/>
        </p:nvPicPr>
        <p:blipFill>
          <a:blip r:embed="rId3"/>
          <a:stretch>
            <a:fillRect/>
          </a:stretch>
        </p:blipFill>
        <p:spPr>
          <a:xfrm>
            <a:off x="4265676" y="1906524"/>
            <a:ext cx="438912" cy="438912"/>
          </a:xfrm>
          <a:prstGeom prst="rect">
            <a:avLst/>
          </a:prstGeom>
        </p:spPr>
      </p:pic>
      <p:sp>
        <p:nvSpPr>
          <p:cNvPr id="9" name="Text 6"/>
          <p:cNvSpPr/>
          <p:nvPr/>
        </p:nvSpPr>
        <p:spPr>
          <a:xfrm>
            <a:off x="4905756" y="1691640"/>
            <a:ext cx="3108960" cy="8686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Browser</a:t>
            </a:r>
            <a:endParaRPr lang="en-US" sz="1700" dirty="0"/>
          </a:p>
        </p:txBody>
      </p:sp>
      <p:pic>
        <p:nvPicPr>
          <p:cNvPr id="10" name="Image 1" descr="preencoded.png"/>
          <p:cNvPicPr>
            <a:picLocks noChangeAspect="1"/>
          </p:cNvPicPr>
          <p:nvPr/>
        </p:nvPicPr>
        <p:blipFill>
          <a:blip r:embed="rId4"/>
          <a:stretch>
            <a:fillRect/>
          </a:stretch>
        </p:blipFill>
        <p:spPr>
          <a:xfrm>
            <a:off x="5948172" y="2615184"/>
            <a:ext cx="292608" cy="292608"/>
          </a:xfrm>
          <a:prstGeom prst="rect">
            <a:avLst/>
          </a:prstGeom>
        </p:spPr>
      </p:pic>
      <p:sp>
        <p:nvSpPr>
          <p:cNvPr id="11" name="Shape 7"/>
          <p:cNvSpPr/>
          <p:nvPr/>
        </p:nvSpPr>
        <p:spPr>
          <a:xfrm>
            <a:off x="3991356" y="3063240"/>
            <a:ext cx="4206240" cy="868680"/>
          </a:xfrm>
          <a:prstGeom prst="roundRect">
            <a:avLst>
              <a:gd name="adj" fmla="val 10526"/>
            </a:avLst>
          </a:prstGeom>
          <a:solidFill>
            <a:srgbClr val="2B2B30"/>
          </a:solidFill>
          <a:ln w="15875">
            <a:solidFill>
              <a:srgbClr val="E10600"/>
            </a:solidFill>
            <a:prstDash val="solid"/>
          </a:ln>
        </p:spPr>
      </p:sp>
      <p:pic>
        <p:nvPicPr>
          <p:cNvPr id="12" name="Image 2" descr="preencoded.png"/>
          <p:cNvPicPr>
            <a:picLocks noChangeAspect="1"/>
          </p:cNvPicPr>
          <p:nvPr/>
        </p:nvPicPr>
        <p:blipFill>
          <a:blip r:embed="rId5"/>
          <a:stretch>
            <a:fillRect/>
          </a:stretch>
        </p:blipFill>
        <p:spPr>
          <a:xfrm>
            <a:off x="4265676" y="3278124"/>
            <a:ext cx="438912" cy="438912"/>
          </a:xfrm>
          <a:prstGeom prst="rect">
            <a:avLst/>
          </a:prstGeom>
        </p:spPr>
      </p:pic>
      <p:sp>
        <p:nvSpPr>
          <p:cNvPr id="13" name="Text 8"/>
          <p:cNvSpPr/>
          <p:nvPr/>
        </p:nvSpPr>
        <p:spPr>
          <a:xfrm>
            <a:off x="4905756" y="3063240"/>
            <a:ext cx="3108960" cy="8686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Next.js Application</a:t>
            </a:r>
            <a:endParaRPr lang="en-US" sz="1700" dirty="0"/>
          </a:p>
        </p:txBody>
      </p:sp>
      <p:pic>
        <p:nvPicPr>
          <p:cNvPr id="14" name="Image 3" descr="preencoded.png"/>
          <p:cNvPicPr>
            <a:picLocks noChangeAspect="1"/>
          </p:cNvPicPr>
          <p:nvPr/>
        </p:nvPicPr>
        <p:blipFill>
          <a:blip r:embed="rId4"/>
          <a:stretch>
            <a:fillRect/>
          </a:stretch>
        </p:blipFill>
        <p:spPr>
          <a:xfrm>
            <a:off x="5948172" y="3986784"/>
            <a:ext cx="292608" cy="292608"/>
          </a:xfrm>
          <a:prstGeom prst="rect">
            <a:avLst/>
          </a:prstGeom>
        </p:spPr>
      </p:pic>
      <p:sp>
        <p:nvSpPr>
          <p:cNvPr id="15" name="Shape 9"/>
          <p:cNvSpPr/>
          <p:nvPr/>
        </p:nvSpPr>
        <p:spPr>
          <a:xfrm>
            <a:off x="3991356" y="4434840"/>
            <a:ext cx="4206240" cy="868680"/>
          </a:xfrm>
          <a:prstGeom prst="roundRect">
            <a:avLst>
              <a:gd name="adj" fmla="val 10526"/>
            </a:avLst>
          </a:prstGeom>
          <a:solidFill>
            <a:srgbClr val="2B2B30"/>
          </a:solidFill>
          <a:ln w="15875">
            <a:solidFill>
              <a:srgbClr val="E10600"/>
            </a:solidFill>
            <a:prstDash val="solid"/>
          </a:ln>
        </p:spPr>
      </p:sp>
      <p:pic>
        <p:nvPicPr>
          <p:cNvPr id="16" name="Image 4" descr="preencoded.png"/>
          <p:cNvPicPr>
            <a:picLocks noChangeAspect="1"/>
          </p:cNvPicPr>
          <p:nvPr/>
        </p:nvPicPr>
        <p:blipFill>
          <a:blip r:embed="rId6"/>
          <a:stretch>
            <a:fillRect/>
          </a:stretch>
        </p:blipFill>
        <p:spPr>
          <a:xfrm>
            <a:off x="4265676" y="4649724"/>
            <a:ext cx="438912" cy="438912"/>
          </a:xfrm>
          <a:prstGeom prst="rect">
            <a:avLst/>
          </a:prstGeom>
        </p:spPr>
      </p:pic>
      <p:sp>
        <p:nvSpPr>
          <p:cNvPr id="17" name="Text 10"/>
          <p:cNvSpPr/>
          <p:nvPr/>
        </p:nvSpPr>
        <p:spPr>
          <a:xfrm>
            <a:off x="4905756" y="4434840"/>
            <a:ext cx="3108960" cy="8686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Route Handler API</a:t>
            </a:r>
            <a:endParaRPr lang="en-US" sz="1700" dirty="0"/>
          </a:p>
        </p:txBody>
      </p:sp>
      <p:pic>
        <p:nvPicPr>
          <p:cNvPr id="18" name="Image 5" descr="preencoded.png"/>
          <p:cNvPicPr>
            <a:picLocks noChangeAspect="1"/>
          </p:cNvPicPr>
          <p:nvPr/>
        </p:nvPicPr>
        <p:blipFill>
          <a:blip r:embed="rId4"/>
          <a:stretch>
            <a:fillRect/>
          </a:stretch>
        </p:blipFill>
        <p:spPr>
          <a:xfrm>
            <a:off x="5948172" y="5358384"/>
            <a:ext cx="292608" cy="292608"/>
          </a:xfrm>
          <a:prstGeom prst="rect">
            <a:avLst/>
          </a:prstGeom>
        </p:spPr>
      </p:pic>
      <p:sp>
        <p:nvSpPr>
          <p:cNvPr id="19" name="Shape 11"/>
          <p:cNvSpPr/>
          <p:nvPr/>
        </p:nvSpPr>
        <p:spPr>
          <a:xfrm>
            <a:off x="3991356" y="5806440"/>
            <a:ext cx="4206240" cy="868680"/>
          </a:xfrm>
          <a:prstGeom prst="roundRect">
            <a:avLst>
              <a:gd name="adj" fmla="val 10526"/>
            </a:avLst>
          </a:prstGeom>
          <a:solidFill>
            <a:srgbClr val="2B2B30"/>
          </a:solidFill>
          <a:ln w="15875">
            <a:solidFill>
              <a:srgbClr val="E10600"/>
            </a:solidFill>
            <a:prstDash val="solid"/>
          </a:ln>
        </p:spPr>
      </p:sp>
      <p:pic>
        <p:nvPicPr>
          <p:cNvPr id="20" name="Image 6" descr="preencoded.png"/>
          <p:cNvPicPr>
            <a:picLocks noChangeAspect="1"/>
          </p:cNvPicPr>
          <p:nvPr/>
        </p:nvPicPr>
        <p:blipFill>
          <a:blip r:embed="rId7"/>
          <a:stretch>
            <a:fillRect/>
          </a:stretch>
        </p:blipFill>
        <p:spPr>
          <a:xfrm>
            <a:off x="4265676" y="6021324"/>
            <a:ext cx="438912" cy="438912"/>
          </a:xfrm>
          <a:prstGeom prst="rect">
            <a:avLst/>
          </a:prstGeom>
        </p:spPr>
      </p:pic>
      <p:sp>
        <p:nvSpPr>
          <p:cNvPr id="21" name="Text 12"/>
          <p:cNvSpPr/>
          <p:nvPr/>
        </p:nvSpPr>
        <p:spPr>
          <a:xfrm>
            <a:off x="4905756" y="5806440"/>
            <a:ext cx="3108960" cy="868680"/>
          </a:xfrm>
          <a:prstGeom prst="rect">
            <a:avLst/>
          </a:prstGeom>
          <a:noFill/>
          <a:ln/>
        </p:spPr>
        <p:txBody>
          <a:bodyPr wrap="square" lIns="0" tIns="0" rIns="0" bIns="0" rtlCol="0" anchor="ctr"/>
          <a:lstStyle/>
          <a:p>
            <a:pPr marL="0" indent="0">
              <a:buNone/>
            </a:pPr>
            <a:r>
              <a:rPr lang="en-US" sz="1700" b="1" dirty="0">
                <a:solidFill>
                  <a:srgbClr val="FFFFFF"/>
                </a:solidFill>
                <a:latin typeface="Calibri" pitchFamily="34" charset="0"/>
                <a:ea typeface="Calibri" pitchFamily="34" charset="-122"/>
                <a:cs typeface="Calibri" pitchFamily="34" charset="-120"/>
              </a:rPr>
              <a:t>setup.json</a:t>
            </a:r>
            <a:endParaRPr lang="en-US" sz="17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5F6"/>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DATA MODEL</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Struktur Data Setup</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470916" y="1828800"/>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7" name="Text 5"/>
          <p:cNvSpPr/>
          <p:nvPr/>
        </p:nvSpPr>
        <p:spPr>
          <a:xfrm>
            <a:off x="470916" y="1828800"/>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id</a:t>
            </a:r>
            <a:endParaRPr lang="en-US" sz="1400" dirty="0"/>
          </a:p>
        </p:txBody>
      </p:sp>
      <p:sp>
        <p:nvSpPr>
          <p:cNvPr id="8" name="Shape 6"/>
          <p:cNvSpPr/>
          <p:nvPr/>
        </p:nvSpPr>
        <p:spPr>
          <a:xfrm>
            <a:off x="2756916" y="1828800"/>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9" name="Text 7"/>
          <p:cNvSpPr/>
          <p:nvPr/>
        </p:nvSpPr>
        <p:spPr>
          <a:xfrm>
            <a:off x="2756916" y="1828800"/>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motor</a:t>
            </a:r>
            <a:endParaRPr lang="en-US" sz="1400" dirty="0"/>
          </a:p>
        </p:txBody>
      </p:sp>
      <p:sp>
        <p:nvSpPr>
          <p:cNvPr id="10" name="Shape 8"/>
          <p:cNvSpPr/>
          <p:nvPr/>
        </p:nvSpPr>
        <p:spPr>
          <a:xfrm>
            <a:off x="5042916" y="1828800"/>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11" name="Text 9"/>
          <p:cNvSpPr/>
          <p:nvPr/>
        </p:nvSpPr>
        <p:spPr>
          <a:xfrm>
            <a:off x="5042916" y="1828800"/>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sirkuit</a:t>
            </a:r>
            <a:endParaRPr lang="en-US" sz="1400" dirty="0"/>
          </a:p>
        </p:txBody>
      </p:sp>
      <p:sp>
        <p:nvSpPr>
          <p:cNvPr id="12" name="Shape 10"/>
          <p:cNvSpPr/>
          <p:nvPr/>
        </p:nvSpPr>
        <p:spPr>
          <a:xfrm>
            <a:off x="7328916" y="1828800"/>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13" name="Text 11"/>
          <p:cNvSpPr/>
          <p:nvPr/>
        </p:nvSpPr>
        <p:spPr>
          <a:xfrm>
            <a:off x="7328916" y="1828800"/>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gearRatio</a:t>
            </a:r>
            <a:endParaRPr lang="en-US" sz="1400" dirty="0"/>
          </a:p>
        </p:txBody>
      </p:sp>
      <p:sp>
        <p:nvSpPr>
          <p:cNvPr id="14" name="Shape 12"/>
          <p:cNvSpPr/>
          <p:nvPr/>
        </p:nvSpPr>
        <p:spPr>
          <a:xfrm>
            <a:off x="9614916" y="1828800"/>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15" name="Text 13"/>
          <p:cNvSpPr/>
          <p:nvPr/>
        </p:nvSpPr>
        <p:spPr>
          <a:xfrm>
            <a:off x="9614916" y="1828800"/>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mainJet</a:t>
            </a:r>
            <a:endParaRPr lang="en-US" sz="1400" dirty="0"/>
          </a:p>
        </p:txBody>
      </p:sp>
      <p:sp>
        <p:nvSpPr>
          <p:cNvPr id="16" name="Shape 14"/>
          <p:cNvSpPr/>
          <p:nvPr/>
        </p:nvSpPr>
        <p:spPr>
          <a:xfrm>
            <a:off x="470916" y="2807208"/>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17" name="Text 15"/>
          <p:cNvSpPr/>
          <p:nvPr/>
        </p:nvSpPr>
        <p:spPr>
          <a:xfrm>
            <a:off x="470916" y="2807208"/>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pilotJet</a:t>
            </a:r>
            <a:endParaRPr lang="en-US" sz="1400" dirty="0"/>
          </a:p>
        </p:txBody>
      </p:sp>
      <p:sp>
        <p:nvSpPr>
          <p:cNvPr id="18" name="Shape 16"/>
          <p:cNvSpPr/>
          <p:nvPr/>
        </p:nvSpPr>
        <p:spPr>
          <a:xfrm>
            <a:off x="2756916" y="2807208"/>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19" name="Text 17"/>
          <p:cNvSpPr/>
          <p:nvPr/>
        </p:nvSpPr>
        <p:spPr>
          <a:xfrm>
            <a:off x="2756916" y="2807208"/>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needleClip</a:t>
            </a:r>
            <a:endParaRPr lang="en-US" sz="1400" dirty="0"/>
          </a:p>
        </p:txBody>
      </p:sp>
      <p:sp>
        <p:nvSpPr>
          <p:cNvPr id="20" name="Shape 18"/>
          <p:cNvSpPr/>
          <p:nvPr/>
        </p:nvSpPr>
        <p:spPr>
          <a:xfrm>
            <a:off x="5042916" y="2807208"/>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21" name="Text 19"/>
          <p:cNvSpPr/>
          <p:nvPr/>
        </p:nvSpPr>
        <p:spPr>
          <a:xfrm>
            <a:off x="5042916" y="2807208"/>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ignition</a:t>
            </a:r>
            <a:endParaRPr lang="en-US" sz="1400" dirty="0"/>
          </a:p>
        </p:txBody>
      </p:sp>
      <p:sp>
        <p:nvSpPr>
          <p:cNvPr id="22" name="Shape 20"/>
          <p:cNvSpPr/>
          <p:nvPr/>
        </p:nvSpPr>
        <p:spPr>
          <a:xfrm>
            <a:off x="7328916" y="2807208"/>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23" name="Text 21"/>
          <p:cNvSpPr/>
          <p:nvPr/>
        </p:nvSpPr>
        <p:spPr>
          <a:xfrm>
            <a:off x="7328916" y="2807208"/>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temperatur</a:t>
            </a:r>
            <a:endParaRPr lang="en-US" sz="1400" dirty="0"/>
          </a:p>
        </p:txBody>
      </p:sp>
      <p:sp>
        <p:nvSpPr>
          <p:cNvPr id="24" name="Shape 22"/>
          <p:cNvSpPr/>
          <p:nvPr/>
        </p:nvSpPr>
        <p:spPr>
          <a:xfrm>
            <a:off x="9614916" y="2807208"/>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25" name="Text 23"/>
          <p:cNvSpPr/>
          <p:nvPr/>
        </p:nvSpPr>
        <p:spPr>
          <a:xfrm>
            <a:off x="9614916" y="2807208"/>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cuaca</a:t>
            </a:r>
            <a:endParaRPr lang="en-US" sz="1400" dirty="0"/>
          </a:p>
        </p:txBody>
      </p:sp>
      <p:sp>
        <p:nvSpPr>
          <p:cNvPr id="26" name="Shape 24"/>
          <p:cNvSpPr/>
          <p:nvPr/>
        </p:nvSpPr>
        <p:spPr>
          <a:xfrm>
            <a:off x="470916" y="3785616"/>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27" name="Text 25"/>
          <p:cNvSpPr/>
          <p:nvPr/>
        </p:nvSpPr>
        <p:spPr>
          <a:xfrm>
            <a:off x="470916" y="3785616"/>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mekanik</a:t>
            </a:r>
            <a:endParaRPr lang="en-US" sz="1400" dirty="0"/>
          </a:p>
        </p:txBody>
      </p:sp>
      <p:sp>
        <p:nvSpPr>
          <p:cNvPr id="28" name="Shape 26"/>
          <p:cNvSpPr/>
          <p:nvPr/>
        </p:nvSpPr>
        <p:spPr>
          <a:xfrm>
            <a:off x="2756916" y="3785616"/>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29" name="Text 27"/>
          <p:cNvSpPr/>
          <p:nvPr/>
        </p:nvSpPr>
        <p:spPr>
          <a:xfrm>
            <a:off x="2756916" y="3785616"/>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catatan</a:t>
            </a:r>
            <a:endParaRPr lang="en-US" sz="1400" dirty="0"/>
          </a:p>
        </p:txBody>
      </p:sp>
      <p:sp>
        <p:nvSpPr>
          <p:cNvPr id="30" name="Shape 28"/>
          <p:cNvSpPr/>
          <p:nvPr/>
        </p:nvSpPr>
        <p:spPr>
          <a:xfrm>
            <a:off x="5042916" y="3785616"/>
            <a:ext cx="210312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31" name="Text 29"/>
          <p:cNvSpPr/>
          <p:nvPr/>
        </p:nvSpPr>
        <p:spPr>
          <a:xfrm>
            <a:off x="5042916" y="3785616"/>
            <a:ext cx="2103120" cy="777240"/>
          </a:xfrm>
          <a:prstGeom prst="rect">
            <a:avLst/>
          </a:prstGeom>
          <a:noFill/>
          <a:ln/>
        </p:spPr>
        <p:txBody>
          <a:bodyPr wrap="square" lIns="0" tIns="0" rIns="0" bIns="0" rtlCol="0" anchor="ctr"/>
          <a:lstStyle/>
          <a:p>
            <a:pPr marL="0" indent="0" algn="ctr">
              <a:buNone/>
            </a:pPr>
            <a:r>
              <a:rPr lang="en-US" sz="1400" b="1" dirty="0">
                <a:solidFill>
                  <a:srgbClr val="E10600"/>
                </a:solidFill>
                <a:latin typeface="Courier New" pitchFamily="34" charset="0"/>
                <a:ea typeface="Courier New" pitchFamily="34" charset="-122"/>
                <a:cs typeface="Courier New" pitchFamily="34" charset="-120"/>
              </a:rPr>
              <a:t>createdAt</a:t>
            </a:r>
            <a:endParaRPr lang="en-US" sz="1400" dirty="0"/>
          </a:p>
        </p:txBody>
      </p:sp>
      <p:sp>
        <p:nvSpPr>
          <p:cNvPr id="32" name="Text 30"/>
          <p:cNvSpPr/>
          <p:nvPr/>
        </p:nvSpPr>
        <p:spPr>
          <a:xfrm>
            <a:off x="548640" y="4901184"/>
            <a:ext cx="1106424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Setiap entri disimpan sebagai satu objek JSON di dalam data/setup.json</a:t>
            </a:r>
            <a:endParaRPr lang="en-US" sz="13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1D"/>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1D"/>
          </a:solidFill>
          <a:ln/>
        </p:spPr>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FUNGSIONALITAS</a:t>
            </a:r>
            <a:endParaRPr lang="en-US" sz="1200" dirty="0"/>
          </a:p>
        </p:txBody>
      </p:sp>
      <p:sp>
        <p:nvSpPr>
          <p:cNvPr id="4" name="Text 2"/>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Fitur Utama</a:t>
            </a:r>
            <a:endParaRPr lang="en-US" sz="3200" dirty="0"/>
          </a:p>
        </p:txBody>
      </p:sp>
      <p:sp>
        <p:nvSpPr>
          <p:cNvPr id="5" name="Text 3"/>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6" name="Text 4"/>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10</a:t>
            </a:r>
            <a:endParaRPr lang="en-US" sz="900" dirty="0"/>
          </a:p>
        </p:txBody>
      </p:sp>
      <p:sp>
        <p:nvSpPr>
          <p:cNvPr id="7" name="Shape 5"/>
          <p:cNvSpPr/>
          <p:nvPr/>
        </p:nvSpPr>
        <p:spPr>
          <a:xfrm>
            <a:off x="580644" y="1783080"/>
            <a:ext cx="2606040" cy="1234440"/>
          </a:xfrm>
          <a:prstGeom prst="roundRect">
            <a:avLst>
              <a:gd name="adj" fmla="val 7407"/>
            </a:avLst>
          </a:prstGeom>
          <a:solidFill>
            <a:srgbClr val="2B2B30"/>
          </a:solidFill>
          <a:ln/>
        </p:spPr>
      </p:sp>
      <p:pic>
        <p:nvPicPr>
          <p:cNvPr id="8" name="Image 0" descr="preencoded.png"/>
          <p:cNvPicPr>
            <a:picLocks noChangeAspect="1"/>
          </p:cNvPicPr>
          <p:nvPr/>
        </p:nvPicPr>
        <p:blipFill>
          <a:blip r:embed="rId3"/>
          <a:stretch>
            <a:fillRect/>
          </a:stretch>
        </p:blipFill>
        <p:spPr>
          <a:xfrm>
            <a:off x="809244" y="2180844"/>
            <a:ext cx="438912" cy="438912"/>
          </a:xfrm>
          <a:prstGeom prst="rect">
            <a:avLst/>
          </a:prstGeom>
        </p:spPr>
      </p:pic>
      <p:sp>
        <p:nvSpPr>
          <p:cNvPr id="9" name="Text 6"/>
          <p:cNvSpPr/>
          <p:nvPr/>
        </p:nvSpPr>
        <p:spPr>
          <a:xfrm>
            <a:off x="1403604" y="1783080"/>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Dashboard</a:t>
            </a:r>
            <a:endParaRPr lang="en-US" sz="1450" dirty="0"/>
          </a:p>
        </p:txBody>
      </p:sp>
      <p:sp>
        <p:nvSpPr>
          <p:cNvPr id="10" name="Shape 7"/>
          <p:cNvSpPr/>
          <p:nvPr/>
        </p:nvSpPr>
        <p:spPr>
          <a:xfrm>
            <a:off x="3387852" y="1783080"/>
            <a:ext cx="2606040" cy="1234440"/>
          </a:xfrm>
          <a:prstGeom prst="roundRect">
            <a:avLst>
              <a:gd name="adj" fmla="val 7407"/>
            </a:avLst>
          </a:prstGeom>
          <a:solidFill>
            <a:srgbClr val="2B2B30"/>
          </a:solidFill>
          <a:ln/>
        </p:spPr>
      </p:sp>
      <p:pic>
        <p:nvPicPr>
          <p:cNvPr id="11" name="Image 1" descr="preencoded.png"/>
          <p:cNvPicPr>
            <a:picLocks noChangeAspect="1"/>
          </p:cNvPicPr>
          <p:nvPr/>
        </p:nvPicPr>
        <p:blipFill>
          <a:blip r:embed="rId4"/>
          <a:stretch>
            <a:fillRect/>
          </a:stretch>
        </p:blipFill>
        <p:spPr>
          <a:xfrm>
            <a:off x="3616452" y="2180844"/>
            <a:ext cx="438912" cy="438912"/>
          </a:xfrm>
          <a:prstGeom prst="rect">
            <a:avLst/>
          </a:prstGeom>
        </p:spPr>
      </p:pic>
      <p:sp>
        <p:nvSpPr>
          <p:cNvPr id="12" name="Text 8"/>
          <p:cNvSpPr/>
          <p:nvPr/>
        </p:nvSpPr>
        <p:spPr>
          <a:xfrm>
            <a:off x="4210812" y="1783080"/>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Create Setup</a:t>
            </a:r>
            <a:endParaRPr lang="en-US" sz="1450" dirty="0"/>
          </a:p>
        </p:txBody>
      </p:sp>
      <p:sp>
        <p:nvSpPr>
          <p:cNvPr id="13" name="Shape 9"/>
          <p:cNvSpPr/>
          <p:nvPr/>
        </p:nvSpPr>
        <p:spPr>
          <a:xfrm>
            <a:off x="6195060" y="1783080"/>
            <a:ext cx="2606040" cy="1234440"/>
          </a:xfrm>
          <a:prstGeom prst="roundRect">
            <a:avLst>
              <a:gd name="adj" fmla="val 7407"/>
            </a:avLst>
          </a:prstGeom>
          <a:solidFill>
            <a:srgbClr val="2B2B30"/>
          </a:solidFill>
          <a:ln/>
        </p:spPr>
      </p:sp>
      <p:pic>
        <p:nvPicPr>
          <p:cNvPr id="14" name="Image 2" descr="preencoded.png"/>
          <p:cNvPicPr>
            <a:picLocks noChangeAspect="1"/>
          </p:cNvPicPr>
          <p:nvPr/>
        </p:nvPicPr>
        <p:blipFill>
          <a:blip r:embed="rId5"/>
          <a:stretch>
            <a:fillRect/>
          </a:stretch>
        </p:blipFill>
        <p:spPr>
          <a:xfrm>
            <a:off x="6423660" y="2180844"/>
            <a:ext cx="438912" cy="438912"/>
          </a:xfrm>
          <a:prstGeom prst="rect">
            <a:avLst/>
          </a:prstGeom>
        </p:spPr>
      </p:pic>
      <p:sp>
        <p:nvSpPr>
          <p:cNvPr id="15" name="Text 10"/>
          <p:cNvSpPr/>
          <p:nvPr/>
        </p:nvSpPr>
        <p:spPr>
          <a:xfrm>
            <a:off x="7018020" y="1783080"/>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Read Setup</a:t>
            </a:r>
            <a:endParaRPr lang="en-US" sz="1450" dirty="0"/>
          </a:p>
        </p:txBody>
      </p:sp>
      <p:sp>
        <p:nvSpPr>
          <p:cNvPr id="16" name="Shape 11"/>
          <p:cNvSpPr/>
          <p:nvPr/>
        </p:nvSpPr>
        <p:spPr>
          <a:xfrm>
            <a:off x="9002268" y="1783080"/>
            <a:ext cx="2606040" cy="1234440"/>
          </a:xfrm>
          <a:prstGeom prst="roundRect">
            <a:avLst>
              <a:gd name="adj" fmla="val 7407"/>
            </a:avLst>
          </a:prstGeom>
          <a:solidFill>
            <a:srgbClr val="2B2B30"/>
          </a:solidFill>
          <a:ln/>
        </p:spPr>
      </p:sp>
      <p:pic>
        <p:nvPicPr>
          <p:cNvPr id="17" name="Image 3" descr="preencoded.png"/>
          <p:cNvPicPr>
            <a:picLocks noChangeAspect="1"/>
          </p:cNvPicPr>
          <p:nvPr/>
        </p:nvPicPr>
        <p:blipFill>
          <a:blip r:embed="rId6"/>
          <a:stretch>
            <a:fillRect/>
          </a:stretch>
        </p:blipFill>
        <p:spPr>
          <a:xfrm>
            <a:off x="9230868" y="2180844"/>
            <a:ext cx="438912" cy="438912"/>
          </a:xfrm>
          <a:prstGeom prst="rect">
            <a:avLst/>
          </a:prstGeom>
        </p:spPr>
      </p:pic>
      <p:sp>
        <p:nvSpPr>
          <p:cNvPr id="18" name="Text 12"/>
          <p:cNvSpPr/>
          <p:nvPr/>
        </p:nvSpPr>
        <p:spPr>
          <a:xfrm>
            <a:off x="9825228" y="1783080"/>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Update Setup</a:t>
            </a:r>
            <a:endParaRPr lang="en-US" sz="1450" dirty="0"/>
          </a:p>
        </p:txBody>
      </p:sp>
      <p:sp>
        <p:nvSpPr>
          <p:cNvPr id="19" name="Shape 13"/>
          <p:cNvSpPr/>
          <p:nvPr/>
        </p:nvSpPr>
        <p:spPr>
          <a:xfrm>
            <a:off x="580644" y="3218688"/>
            <a:ext cx="2606040" cy="1234440"/>
          </a:xfrm>
          <a:prstGeom prst="roundRect">
            <a:avLst>
              <a:gd name="adj" fmla="val 7407"/>
            </a:avLst>
          </a:prstGeom>
          <a:solidFill>
            <a:srgbClr val="2B2B30"/>
          </a:solidFill>
          <a:ln/>
        </p:spPr>
      </p:sp>
      <p:pic>
        <p:nvPicPr>
          <p:cNvPr id="20" name="Image 4" descr="preencoded.png"/>
          <p:cNvPicPr>
            <a:picLocks noChangeAspect="1"/>
          </p:cNvPicPr>
          <p:nvPr/>
        </p:nvPicPr>
        <p:blipFill>
          <a:blip r:embed="rId7"/>
          <a:stretch>
            <a:fillRect/>
          </a:stretch>
        </p:blipFill>
        <p:spPr>
          <a:xfrm>
            <a:off x="809244" y="3616452"/>
            <a:ext cx="438912" cy="438912"/>
          </a:xfrm>
          <a:prstGeom prst="rect">
            <a:avLst/>
          </a:prstGeom>
        </p:spPr>
      </p:pic>
      <p:sp>
        <p:nvSpPr>
          <p:cNvPr id="21" name="Text 14"/>
          <p:cNvSpPr/>
          <p:nvPr/>
        </p:nvSpPr>
        <p:spPr>
          <a:xfrm>
            <a:off x="1403604" y="3218688"/>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Delete Setup</a:t>
            </a:r>
            <a:endParaRPr lang="en-US" sz="1450" dirty="0"/>
          </a:p>
        </p:txBody>
      </p:sp>
      <p:sp>
        <p:nvSpPr>
          <p:cNvPr id="22" name="Shape 15"/>
          <p:cNvSpPr/>
          <p:nvPr/>
        </p:nvSpPr>
        <p:spPr>
          <a:xfrm>
            <a:off x="3387852" y="3218688"/>
            <a:ext cx="2606040" cy="1234440"/>
          </a:xfrm>
          <a:prstGeom prst="roundRect">
            <a:avLst>
              <a:gd name="adj" fmla="val 7407"/>
            </a:avLst>
          </a:prstGeom>
          <a:solidFill>
            <a:srgbClr val="2B2B30"/>
          </a:solidFill>
          <a:ln/>
        </p:spPr>
      </p:sp>
      <p:pic>
        <p:nvPicPr>
          <p:cNvPr id="23" name="Image 5" descr="preencoded.png"/>
          <p:cNvPicPr>
            <a:picLocks noChangeAspect="1"/>
          </p:cNvPicPr>
          <p:nvPr/>
        </p:nvPicPr>
        <p:blipFill>
          <a:blip r:embed="rId8"/>
          <a:stretch>
            <a:fillRect/>
          </a:stretch>
        </p:blipFill>
        <p:spPr>
          <a:xfrm>
            <a:off x="3616452" y="3616452"/>
            <a:ext cx="438912" cy="438912"/>
          </a:xfrm>
          <a:prstGeom prst="rect">
            <a:avLst/>
          </a:prstGeom>
        </p:spPr>
      </p:pic>
      <p:sp>
        <p:nvSpPr>
          <p:cNvPr id="24" name="Text 16"/>
          <p:cNvSpPr/>
          <p:nvPr/>
        </p:nvSpPr>
        <p:spPr>
          <a:xfrm>
            <a:off x="4210812" y="3218688"/>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Search</a:t>
            </a:r>
            <a:endParaRPr lang="en-US" sz="1450" dirty="0"/>
          </a:p>
        </p:txBody>
      </p:sp>
      <p:sp>
        <p:nvSpPr>
          <p:cNvPr id="25" name="Shape 17"/>
          <p:cNvSpPr/>
          <p:nvPr/>
        </p:nvSpPr>
        <p:spPr>
          <a:xfrm>
            <a:off x="6195060" y="3218688"/>
            <a:ext cx="2606040" cy="1234440"/>
          </a:xfrm>
          <a:prstGeom prst="roundRect">
            <a:avLst>
              <a:gd name="adj" fmla="val 7407"/>
            </a:avLst>
          </a:prstGeom>
          <a:solidFill>
            <a:srgbClr val="2B2B30"/>
          </a:solidFill>
          <a:ln/>
        </p:spPr>
      </p:sp>
      <p:pic>
        <p:nvPicPr>
          <p:cNvPr id="26" name="Image 6" descr="preencoded.png"/>
          <p:cNvPicPr>
            <a:picLocks noChangeAspect="1"/>
          </p:cNvPicPr>
          <p:nvPr/>
        </p:nvPicPr>
        <p:blipFill>
          <a:blip r:embed="rId9"/>
          <a:stretch>
            <a:fillRect/>
          </a:stretch>
        </p:blipFill>
        <p:spPr>
          <a:xfrm>
            <a:off x="6423660" y="3616452"/>
            <a:ext cx="438912" cy="438912"/>
          </a:xfrm>
          <a:prstGeom prst="rect">
            <a:avLst/>
          </a:prstGeom>
        </p:spPr>
      </p:pic>
      <p:sp>
        <p:nvSpPr>
          <p:cNvPr id="27" name="Text 18"/>
          <p:cNvSpPr/>
          <p:nvPr/>
        </p:nvSpPr>
        <p:spPr>
          <a:xfrm>
            <a:off x="7018020" y="3218688"/>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Filter</a:t>
            </a:r>
            <a:endParaRPr lang="en-US" sz="1450" dirty="0"/>
          </a:p>
        </p:txBody>
      </p:sp>
      <p:sp>
        <p:nvSpPr>
          <p:cNvPr id="28" name="Shape 19"/>
          <p:cNvSpPr/>
          <p:nvPr/>
        </p:nvSpPr>
        <p:spPr>
          <a:xfrm>
            <a:off x="9002268" y="3218688"/>
            <a:ext cx="2606040" cy="1234440"/>
          </a:xfrm>
          <a:prstGeom prst="roundRect">
            <a:avLst>
              <a:gd name="adj" fmla="val 7407"/>
            </a:avLst>
          </a:prstGeom>
          <a:solidFill>
            <a:srgbClr val="2B2B30"/>
          </a:solidFill>
          <a:ln/>
        </p:spPr>
      </p:sp>
      <p:pic>
        <p:nvPicPr>
          <p:cNvPr id="29" name="Image 7" descr="preencoded.png"/>
          <p:cNvPicPr>
            <a:picLocks noChangeAspect="1"/>
          </p:cNvPicPr>
          <p:nvPr/>
        </p:nvPicPr>
        <p:blipFill>
          <a:blip r:embed="rId10"/>
          <a:stretch>
            <a:fillRect/>
          </a:stretch>
        </p:blipFill>
        <p:spPr>
          <a:xfrm>
            <a:off x="9230868" y="3616452"/>
            <a:ext cx="438912" cy="438912"/>
          </a:xfrm>
          <a:prstGeom prst="rect">
            <a:avLst/>
          </a:prstGeom>
        </p:spPr>
      </p:pic>
      <p:sp>
        <p:nvSpPr>
          <p:cNvPr id="30" name="Text 20"/>
          <p:cNvSpPr/>
          <p:nvPr/>
        </p:nvSpPr>
        <p:spPr>
          <a:xfrm>
            <a:off x="9825228" y="3218688"/>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Sorting</a:t>
            </a:r>
            <a:endParaRPr lang="en-US" sz="1450" dirty="0"/>
          </a:p>
        </p:txBody>
      </p:sp>
      <p:sp>
        <p:nvSpPr>
          <p:cNvPr id="31" name="Shape 21"/>
          <p:cNvSpPr/>
          <p:nvPr/>
        </p:nvSpPr>
        <p:spPr>
          <a:xfrm>
            <a:off x="580644" y="4654296"/>
            <a:ext cx="2606040" cy="1234440"/>
          </a:xfrm>
          <a:prstGeom prst="roundRect">
            <a:avLst>
              <a:gd name="adj" fmla="val 7407"/>
            </a:avLst>
          </a:prstGeom>
          <a:solidFill>
            <a:srgbClr val="2B2B30"/>
          </a:solidFill>
          <a:ln/>
        </p:spPr>
      </p:sp>
      <p:pic>
        <p:nvPicPr>
          <p:cNvPr id="32" name="Image 8" descr="preencoded.png"/>
          <p:cNvPicPr>
            <a:picLocks noChangeAspect="1"/>
          </p:cNvPicPr>
          <p:nvPr/>
        </p:nvPicPr>
        <p:blipFill>
          <a:blip r:embed="rId11"/>
          <a:stretch>
            <a:fillRect/>
          </a:stretch>
        </p:blipFill>
        <p:spPr>
          <a:xfrm>
            <a:off x="809244" y="5052060"/>
            <a:ext cx="438912" cy="438912"/>
          </a:xfrm>
          <a:prstGeom prst="rect">
            <a:avLst/>
          </a:prstGeom>
        </p:spPr>
      </p:pic>
      <p:sp>
        <p:nvSpPr>
          <p:cNvPr id="33" name="Text 22"/>
          <p:cNvSpPr/>
          <p:nvPr/>
        </p:nvSpPr>
        <p:spPr>
          <a:xfrm>
            <a:off x="1403604" y="4654296"/>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Export PDF</a:t>
            </a:r>
            <a:endParaRPr lang="en-US" sz="1450" dirty="0"/>
          </a:p>
        </p:txBody>
      </p:sp>
      <p:sp>
        <p:nvSpPr>
          <p:cNvPr id="34" name="Shape 23"/>
          <p:cNvSpPr/>
          <p:nvPr/>
        </p:nvSpPr>
        <p:spPr>
          <a:xfrm>
            <a:off x="3387852" y="4654296"/>
            <a:ext cx="2606040" cy="1234440"/>
          </a:xfrm>
          <a:prstGeom prst="roundRect">
            <a:avLst>
              <a:gd name="adj" fmla="val 7407"/>
            </a:avLst>
          </a:prstGeom>
          <a:solidFill>
            <a:srgbClr val="2B2B30"/>
          </a:solidFill>
          <a:ln/>
        </p:spPr>
      </p:sp>
      <p:pic>
        <p:nvPicPr>
          <p:cNvPr id="35" name="Image 9" descr="preencoded.png"/>
          <p:cNvPicPr>
            <a:picLocks noChangeAspect="1"/>
          </p:cNvPicPr>
          <p:nvPr/>
        </p:nvPicPr>
        <p:blipFill>
          <a:blip r:embed="rId12"/>
          <a:stretch>
            <a:fillRect/>
          </a:stretch>
        </p:blipFill>
        <p:spPr>
          <a:xfrm>
            <a:off x="3616452" y="5052060"/>
            <a:ext cx="438912" cy="438912"/>
          </a:xfrm>
          <a:prstGeom prst="rect">
            <a:avLst/>
          </a:prstGeom>
        </p:spPr>
      </p:pic>
      <p:sp>
        <p:nvSpPr>
          <p:cNvPr id="36" name="Text 24"/>
          <p:cNvSpPr/>
          <p:nvPr/>
        </p:nvSpPr>
        <p:spPr>
          <a:xfrm>
            <a:off x="4210812" y="4654296"/>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Export Excel</a:t>
            </a:r>
            <a:endParaRPr lang="en-US" sz="1450" dirty="0"/>
          </a:p>
        </p:txBody>
      </p:sp>
      <p:sp>
        <p:nvSpPr>
          <p:cNvPr id="37" name="Shape 25"/>
          <p:cNvSpPr/>
          <p:nvPr/>
        </p:nvSpPr>
        <p:spPr>
          <a:xfrm>
            <a:off x="6195060" y="4654296"/>
            <a:ext cx="2606040" cy="1234440"/>
          </a:xfrm>
          <a:prstGeom prst="roundRect">
            <a:avLst>
              <a:gd name="adj" fmla="val 7407"/>
            </a:avLst>
          </a:prstGeom>
          <a:solidFill>
            <a:srgbClr val="2B2B30"/>
          </a:solidFill>
          <a:ln/>
        </p:spPr>
      </p:sp>
      <p:pic>
        <p:nvPicPr>
          <p:cNvPr id="38" name="Image 10" descr="preencoded.png"/>
          <p:cNvPicPr>
            <a:picLocks noChangeAspect="1"/>
          </p:cNvPicPr>
          <p:nvPr/>
        </p:nvPicPr>
        <p:blipFill>
          <a:blip r:embed="rId13"/>
          <a:stretch>
            <a:fillRect/>
          </a:stretch>
        </p:blipFill>
        <p:spPr>
          <a:xfrm>
            <a:off x="6423660" y="5052060"/>
            <a:ext cx="438912" cy="438912"/>
          </a:xfrm>
          <a:prstGeom prst="rect">
            <a:avLst/>
          </a:prstGeom>
        </p:spPr>
      </p:pic>
      <p:sp>
        <p:nvSpPr>
          <p:cNvPr id="39" name="Text 26"/>
          <p:cNvSpPr/>
          <p:nvPr/>
        </p:nvSpPr>
        <p:spPr>
          <a:xfrm>
            <a:off x="7018020" y="4654296"/>
            <a:ext cx="1645920" cy="123444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Dark Mode</a:t>
            </a:r>
            <a:endParaRPr lang="en-US" sz="145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ALUR PENGGUNA</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User Flow</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585216" y="2377440"/>
            <a:ext cx="2377440" cy="1371600"/>
          </a:xfrm>
          <a:prstGeom prst="roundRect">
            <a:avLst>
              <a:gd name="adj" fmla="val 8000"/>
            </a:avLst>
          </a:prstGeom>
          <a:solidFill>
            <a:srgbClr val="F2F2F4"/>
          </a:solidFill>
          <a:ln/>
          <a:effectLst>
            <a:outerShdw blurRad="101600" dist="38100" dir="5400000" algn="bl" rotWithShape="0">
              <a:srgbClr val="000000">
                <a:alpha val="12000"/>
              </a:srgbClr>
            </a:outerShdw>
          </a:effectLst>
        </p:spPr>
      </p:sp>
      <p:sp>
        <p:nvSpPr>
          <p:cNvPr id="7" name="Text 5"/>
          <p:cNvSpPr/>
          <p:nvPr/>
        </p:nvSpPr>
        <p:spPr>
          <a:xfrm>
            <a:off x="768096" y="2487168"/>
            <a:ext cx="548640" cy="365760"/>
          </a:xfrm>
          <a:prstGeom prst="rect">
            <a:avLst/>
          </a:prstGeom>
          <a:noFill/>
          <a:ln/>
        </p:spPr>
        <p:txBody>
          <a:bodyPr wrap="square" lIns="0" tIns="0" rIns="0" bIns="0" rtlCol="0" anchor="ctr"/>
          <a:lstStyle/>
          <a:p>
            <a:pPr marL="0" indent="0">
              <a:buNone/>
            </a:pPr>
            <a:r>
              <a:rPr lang="en-US" sz="1400" b="1" dirty="0">
                <a:solidFill>
                  <a:srgbClr val="E10600"/>
                </a:solidFill>
                <a:latin typeface="Calibri" pitchFamily="34" charset="0"/>
                <a:ea typeface="Calibri" pitchFamily="34" charset="-122"/>
                <a:cs typeface="Calibri" pitchFamily="34" charset="-120"/>
              </a:rPr>
              <a:t>1</a:t>
            </a:r>
            <a:endParaRPr lang="en-US" sz="1400" dirty="0"/>
          </a:p>
        </p:txBody>
      </p:sp>
      <p:sp>
        <p:nvSpPr>
          <p:cNvPr id="8" name="Text 6"/>
          <p:cNvSpPr/>
          <p:nvPr/>
        </p:nvSpPr>
        <p:spPr>
          <a:xfrm>
            <a:off x="722376" y="2743200"/>
            <a:ext cx="2103120" cy="731520"/>
          </a:xfrm>
          <a:prstGeom prst="rect">
            <a:avLst/>
          </a:prstGeom>
          <a:noFill/>
          <a:ln/>
        </p:spPr>
        <p:txBody>
          <a:bodyPr wrap="square" lIns="0" tIns="0" rIns="0" bIns="0" rtlCol="0" anchor="ctr"/>
          <a:lstStyle/>
          <a:p>
            <a:pPr marL="0" indent="0" algn="ctr">
              <a:buNone/>
            </a:pPr>
            <a:r>
              <a:rPr lang="en-US" sz="1700" b="1" dirty="0">
                <a:solidFill>
                  <a:srgbClr val="1A1A1D"/>
                </a:solidFill>
                <a:latin typeface="Cambria" pitchFamily="34" charset="0"/>
                <a:ea typeface="Cambria" pitchFamily="34" charset="-122"/>
                <a:cs typeface="Cambria" pitchFamily="34" charset="-120"/>
              </a:rPr>
              <a:t>Dashboard</a:t>
            </a:r>
            <a:endParaRPr lang="en-US" sz="1700" dirty="0"/>
          </a:p>
        </p:txBody>
      </p:sp>
      <p:sp>
        <p:nvSpPr>
          <p:cNvPr id="9" name="Shape 7"/>
          <p:cNvSpPr/>
          <p:nvPr/>
        </p:nvSpPr>
        <p:spPr>
          <a:xfrm>
            <a:off x="2962656" y="3063240"/>
            <a:ext cx="502920" cy="0"/>
          </a:xfrm>
          <a:prstGeom prst="line">
            <a:avLst/>
          </a:prstGeom>
          <a:noFill/>
          <a:ln w="25400">
            <a:solidFill>
              <a:srgbClr val="6B7280"/>
            </a:solidFill>
            <a:prstDash val="solid"/>
            <a:tailEnd type="triangle"/>
          </a:ln>
        </p:spPr>
      </p:sp>
      <p:sp>
        <p:nvSpPr>
          <p:cNvPr id="10" name="Shape 8"/>
          <p:cNvSpPr/>
          <p:nvPr/>
        </p:nvSpPr>
        <p:spPr>
          <a:xfrm>
            <a:off x="3465576" y="2377440"/>
            <a:ext cx="2377440" cy="1371600"/>
          </a:xfrm>
          <a:prstGeom prst="roundRect">
            <a:avLst>
              <a:gd name="adj" fmla="val 8000"/>
            </a:avLst>
          </a:prstGeom>
          <a:solidFill>
            <a:srgbClr val="F2F2F4"/>
          </a:solidFill>
          <a:ln/>
          <a:effectLst>
            <a:outerShdw blurRad="101600" dist="38100" dir="5400000" algn="bl" rotWithShape="0">
              <a:srgbClr val="000000">
                <a:alpha val="12000"/>
              </a:srgbClr>
            </a:outerShdw>
          </a:effectLst>
        </p:spPr>
      </p:sp>
      <p:sp>
        <p:nvSpPr>
          <p:cNvPr id="11" name="Text 9"/>
          <p:cNvSpPr/>
          <p:nvPr/>
        </p:nvSpPr>
        <p:spPr>
          <a:xfrm>
            <a:off x="3648456" y="2487168"/>
            <a:ext cx="548640" cy="365760"/>
          </a:xfrm>
          <a:prstGeom prst="rect">
            <a:avLst/>
          </a:prstGeom>
          <a:noFill/>
          <a:ln/>
        </p:spPr>
        <p:txBody>
          <a:bodyPr wrap="square" lIns="0" tIns="0" rIns="0" bIns="0" rtlCol="0" anchor="ctr"/>
          <a:lstStyle/>
          <a:p>
            <a:pPr marL="0" indent="0">
              <a:buNone/>
            </a:pPr>
            <a:r>
              <a:rPr lang="en-US" sz="1400" b="1" dirty="0">
                <a:solidFill>
                  <a:srgbClr val="E10600"/>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3602736" y="2743200"/>
            <a:ext cx="2103120" cy="731520"/>
          </a:xfrm>
          <a:prstGeom prst="rect">
            <a:avLst/>
          </a:prstGeom>
          <a:noFill/>
          <a:ln/>
        </p:spPr>
        <p:txBody>
          <a:bodyPr wrap="square" lIns="0" tIns="0" rIns="0" bIns="0" rtlCol="0" anchor="ctr"/>
          <a:lstStyle/>
          <a:p>
            <a:pPr marL="0" indent="0" algn="ctr">
              <a:buNone/>
            </a:pPr>
            <a:r>
              <a:rPr lang="en-US" sz="1700" b="1" dirty="0">
                <a:solidFill>
                  <a:srgbClr val="1A1A1D"/>
                </a:solidFill>
                <a:latin typeface="Cambria" pitchFamily="34" charset="0"/>
                <a:ea typeface="Cambria" pitchFamily="34" charset="-122"/>
                <a:cs typeface="Cambria" pitchFamily="34" charset="-120"/>
              </a:rPr>
              <a:t>Tambah Setup</a:t>
            </a:r>
            <a:endParaRPr lang="en-US" sz="1700" dirty="0"/>
          </a:p>
        </p:txBody>
      </p:sp>
      <p:sp>
        <p:nvSpPr>
          <p:cNvPr id="13" name="Shape 11"/>
          <p:cNvSpPr/>
          <p:nvPr/>
        </p:nvSpPr>
        <p:spPr>
          <a:xfrm>
            <a:off x="5843016" y="3063240"/>
            <a:ext cx="502920" cy="0"/>
          </a:xfrm>
          <a:prstGeom prst="line">
            <a:avLst/>
          </a:prstGeom>
          <a:noFill/>
          <a:ln w="25400">
            <a:solidFill>
              <a:srgbClr val="6B7280"/>
            </a:solidFill>
            <a:prstDash val="solid"/>
            <a:tailEnd type="triangle"/>
          </a:ln>
        </p:spPr>
      </p:sp>
      <p:sp>
        <p:nvSpPr>
          <p:cNvPr id="14" name="Shape 12"/>
          <p:cNvSpPr/>
          <p:nvPr/>
        </p:nvSpPr>
        <p:spPr>
          <a:xfrm>
            <a:off x="6345936" y="2377440"/>
            <a:ext cx="2377440" cy="1371600"/>
          </a:xfrm>
          <a:prstGeom prst="roundRect">
            <a:avLst>
              <a:gd name="adj" fmla="val 8000"/>
            </a:avLst>
          </a:prstGeom>
          <a:solidFill>
            <a:srgbClr val="F2F2F4"/>
          </a:solidFill>
          <a:ln/>
          <a:effectLst>
            <a:outerShdw blurRad="101600" dist="38100" dir="5400000" algn="bl" rotWithShape="0">
              <a:srgbClr val="000000">
                <a:alpha val="12000"/>
              </a:srgbClr>
            </a:outerShdw>
          </a:effectLst>
        </p:spPr>
      </p:sp>
      <p:sp>
        <p:nvSpPr>
          <p:cNvPr id="15" name="Text 13"/>
          <p:cNvSpPr/>
          <p:nvPr/>
        </p:nvSpPr>
        <p:spPr>
          <a:xfrm>
            <a:off x="6528816" y="2487168"/>
            <a:ext cx="548640" cy="365760"/>
          </a:xfrm>
          <a:prstGeom prst="rect">
            <a:avLst/>
          </a:prstGeom>
          <a:noFill/>
          <a:ln/>
        </p:spPr>
        <p:txBody>
          <a:bodyPr wrap="square" lIns="0" tIns="0" rIns="0" bIns="0" rtlCol="0" anchor="ctr"/>
          <a:lstStyle/>
          <a:p>
            <a:pPr marL="0" indent="0">
              <a:buNone/>
            </a:pPr>
            <a:r>
              <a:rPr lang="en-US" sz="1400" b="1" dirty="0">
                <a:solidFill>
                  <a:srgbClr val="E10600"/>
                </a:solidFill>
                <a:latin typeface="Calibri" pitchFamily="34" charset="0"/>
                <a:ea typeface="Calibri" pitchFamily="34" charset="-122"/>
                <a:cs typeface="Calibri" pitchFamily="34" charset="-120"/>
              </a:rPr>
              <a:t>3</a:t>
            </a:r>
            <a:endParaRPr lang="en-US" sz="1400" dirty="0"/>
          </a:p>
        </p:txBody>
      </p:sp>
      <p:sp>
        <p:nvSpPr>
          <p:cNvPr id="16" name="Text 14"/>
          <p:cNvSpPr/>
          <p:nvPr/>
        </p:nvSpPr>
        <p:spPr>
          <a:xfrm>
            <a:off x="6483096" y="2743200"/>
            <a:ext cx="2103120" cy="731520"/>
          </a:xfrm>
          <a:prstGeom prst="rect">
            <a:avLst/>
          </a:prstGeom>
          <a:noFill/>
          <a:ln/>
        </p:spPr>
        <p:txBody>
          <a:bodyPr wrap="square" lIns="0" tIns="0" rIns="0" bIns="0" rtlCol="0" anchor="ctr"/>
          <a:lstStyle/>
          <a:p>
            <a:pPr marL="0" indent="0" algn="ctr">
              <a:buNone/>
            </a:pPr>
            <a:r>
              <a:rPr lang="en-US" sz="1700" b="1" dirty="0">
                <a:solidFill>
                  <a:srgbClr val="1A1A1D"/>
                </a:solidFill>
                <a:latin typeface="Cambria" pitchFamily="34" charset="0"/>
                <a:ea typeface="Cambria" pitchFamily="34" charset="-122"/>
                <a:cs typeface="Cambria" pitchFamily="34" charset="-120"/>
              </a:rPr>
              <a:t>Simpan</a:t>
            </a:r>
            <a:endParaRPr lang="en-US" sz="1700" dirty="0"/>
          </a:p>
        </p:txBody>
      </p:sp>
      <p:sp>
        <p:nvSpPr>
          <p:cNvPr id="17" name="Shape 15"/>
          <p:cNvSpPr/>
          <p:nvPr/>
        </p:nvSpPr>
        <p:spPr>
          <a:xfrm>
            <a:off x="8723376" y="3063240"/>
            <a:ext cx="502920" cy="0"/>
          </a:xfrm>
          <a:prstGeom prst="line">
            <a:avLst/>
          </a:prstGeom>
          <a:noFill/>
          <a:ln w="25400">
            <a:solidFill>
              <a:srgbClr val="6B7280"/>
            </a:solidFill>
            <a:prstDash val="solid"/>
            <a:tailEnd type="triangle"/>
          </a:ln>
        </p:spPr>
      </p:sp>
      <p:sp>
        <p:nvSpPr>
          <p:cNvPr id="18" name="Shape 16"/>
          <p:cNvSpPr/>
          <p:nvPr/>
        </p:nvSpPr>
        <p:spPr>
          <a:xfrm>
            <a:off x="9226296" y="2377440"/>
            <a:ext cx="2377440" cy="1371600"/>
          </a:xfrm>
          <a:prstGeom prst="roundRect">
            <a:avLst>
              <a:gd name="adj" fmla="val 8000"/>
            </a:avLst>
          </a:prstGeom>
          <a:solidFill>
            <a:srgbClr val="E10600"/>
          </a:solidFill>
          <a:ln/>
          <a:effectLst>
            <a:outerShdw blurRad="101600" dist="38100" dir="5400000" algn="bl" rotWithShape="0">
              <a:srgbClr val="000000">
                <a:alpha val="12000"/>
              </a:srgbClr>
            </a:outerShdw>
          </a:effectLst>
        </p:spPr>
      </p:sp>
      <p:sp>
        <p:nvSpPr>
          <p:cNvPr id="19" name="Text 17"/>
          <p:cNvSpPr/>
          <p:nvPr/>
        </p:nvSpPr>
        <p:spPr>
          <a:xfrm>
            <a:off x="9409176" y="2487168"/>
            <a:ext cx="5486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p:nvPr/>
        </p:nvSpPr>
        <p:spPr>
          <a:xfrm>
            <a:off x="9363456" y="2743200"/>
            <a:ext cx="2103120" cy="73152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Edit / Delete</a:t>
            </a:r>
            <a:endParaRPr lang="en-US" sz="1700" dirty="0"/>
          </a:p>
        </p:txBody>
      </p:sp>
      <p:sp>
        <p:nvSpPr>
          <p:cNvPr id="21" name="Text 19"/>
          <p:cNvSpPr/>
          <p:nvPr/>
        </p:nvSpPr>
        <p:spPr>
          <a:xfrm>
            <a:off x="548640" y="4297680"/>
            <a:ext cx="11064240" cy="365760"/>
          </a:xfrm>
          <a:prstGeom prst="rect">
            <a:avLst/>
          </a:prstGeom>
          <a:noFill/>
          <a:ln/>
        </p:spPr>
        <p:txBody>
          <a:bodyPr wrap="square" lIns="0" tIns="0" rIns="0" bIns="0" rtlCol="0" anchor="ctr"/>
          <a:lstStyle/>
          <a:p>
            <a:pPr marL="0" indent="0" algn="ctr">
              <a:buNone/>
            </a:pPr>
            <a:r>
              <a:rPr lang="en-US" sz="1300" i="1" dirty="0">
                <a:solidFill>
                  <a:srgbClr val="6B7280"/>
                </a:solidFill>
                <a:latin typeface="Calibri" pitchFamily="34" charset="0"/>
                <a:ea typeface="Calibri" pitchFamily="34" charset="-122"/>
                <a:cs typeface="Calibri" pitchFamily="34" charset="-120"/>
              </a:rPr>
              <a:t>Alur berulang: setelah Edit/Delete pengguna kembali ke Dashboard untuk melihat data terbaru.</a:t>
            </a:r>
            <a:endParaRPr lang="en-US" sz="13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5F6"/>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STRUKTUR HALAMAN</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Sitemap</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997196" y="1737360"/>
            <a:ext cx="2194560" cy="685800"/>
          </a:xfrm>
          <a:prstGeom prst="roundRect">
            <a:avLst>
              <a:gd name="adj" fmla="val 13333"/>
            </a:avLst>
          </a:prstGeom>
          <a:solidFill>
            <a:srgbClr val="E10600"/>
          </a:solidFill>
          <a:ln/>
        </p:spPr>
      </p:sp>
      <p:sp>
        <p:nvSpPr>
          <p:cNvPr id="7" name="Text 5"/>
          <p:cNvSpPr/>
          <p:nvPr/>
        </p:nvSpPr>
        <p:spPr>
          <a:xfrm>
            <a:off x="4997196" y="1737360"/>
            <a:ext cx="2194560" cy="6858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Home</a:t>
            </a:r>
            <a:endParaRPr lang="en-US" sz="1700" dirty="0"/>
          </a:p>
        </p:txBody>
      </p:sp>
      <p:sp>
        <p:nvSpPr>
          <p:cNvPr id="8" name="Shape 6"/>
          <p:cNvSpPr/>
          <p:nvPr/>
        </p:nvSpPr>
        <p:spPr>
          <a:xfrm>
            <a:off x="6094476" y="2423160"/>
            <a:ext cx="0" cy="457200"/>
          </a:xfrm>
          <a:prstGeom prst="line">
            <a:avLst/>
          </a:prstGeom>
          <a:noFill/>
          <a:ln w="19050">
            <a:solidFill>
              <a:srgbClr val="6B7280"/>
            </a:solidFill>
            <a:prstDash val="solid"/>
          </a:ln>
        </p:spPr>
      </p:sp>
      <p:sp>
        <p:nvSpPr>
          <p:cNvPr id="9" name="Shape 7"/>
          <p:cNvSpPr/>
          <p:nvPr/>
        </p:nvSpPr>
        <p:spPr>
          <a:xfrm>
            <a:off x="1408176" y="2880360"/>
            <a:ext cx="9372600" cy="0"/>
          </a:xfrm>
          <a:prstGeom prst="line">
            <a:avLst/>
          </a:prstGeom>
          <a:noFill/>
          <a:ln w="19050">
            <a:solidFill>
              <a:srgbClr val="6B7280"/>
            </a:solidFill>
            <a:prstDash val="solid"/>
          </a:ln>
        </p:spPr>
      </p:sp>
      <p:sp>
        <p:nvSpPr>
          <p:cNvPr id="10" name="Shape 8"/>
          <p:cNvSpPr/>
          <p:nvPr/>
        </p:nvSpPr>
        <p:spPr>
          <a:xfrm>
            <a:off x="1408176" y="2880360"/>
            <a:ext cx="0" cy="457200"/>
          </a:xfrm>
          <a:prstGeom prst="line">
            <a:avLst/>
          </a:prstGeom>
          <a:noFill/>
          <a:ln w="19050">
            <a:solidFill>
              <a:srgbClr val="6B7280"/>
            </a:solidFill>
            <a:prstDash val="solid"/>
          </a:ln>
        </p:spPr>
      </p:sp>
      <p:sp>
        <p:nvSpPr>
          <p:cNvPr id="11" name="Shape 9"/>
          <p:cNvSpPr/>
          <p:nvPr/>
        </p:nvSpPr>
        <p:spPr>
          <a:xfrm>
            <a:off x="562356" y="3337560"/>
            <a:ext cx="169164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12" name="Text 10"/>
          <p:cNvSpPr/>
          <p:nvPr/>
        </p:nvSpPr>
        <p:spPr>
          <a:xfrm>
            <a:off x="608076" y="3337560"/>
            <a:ext cx="1600200" cy="777240"/>
          </a:xfrm>
          <a:prstGeom prst="rect">
            <a:avLst/>
          </a:prstGeom>
          <a:noFill/>
          <a:ln/>
        </p:spPr>
        <p:txBody>
          <a:bodyPr wrap="square" lIns="0" tIns="0" rIns="0" bIns="0" rtlCol="0" anchor="ctr"/>
          <a:lstStyle/>
          <a:p>
            <a:pPr marL="0" indent="0" algn="ctr">
              <a:buNone/>
            </a:pPr>
            <a:r>
              <a:rPr lang="en-US" sz="1150" b="1" dirty="0">
                <a:solidFill>
                  <a:srgbClr val="2B2B30"/>
                </a:solidFill>
                <a:latin typeface="Calibri" pitchFamily="34" charset="0"/>
                <a:ea typeface="Calibri" pitchFamily="34" charset="-122"/>
                <a:cs typeface="Calibri" pitchFamily="34" charset="-120"/>
              </a:rPr>
              <a:t>Dashboard</a:t>
            </a:r>
            <a:endParaRPr lang="en-US" sz="1150" dirty="0"/>
          </a:p>
        </p:txBody>
      </p:sp>
      <p:sp>
        <p:nvSpPr>
          <p:cNvPr id="13" name="Shape 11"/>
          <p:cNvSpPr/>
          <p:nvPr/>
        </p:nvSpPr>
        <p:spPr>
          <a:xfrm>
            <a:off x="3282696" y="2880360"/>
            <a:ext cx="0" cy="457200"/>
          </a:xfrm>
          <a:prstGeom prst="line">
            <a:avLst/>
          </a:prstGeom>
          <a:noFill/>
          <a:ln w="19050">
            <a:solidFill>
              <a:srgbClr val="6B7280"/>
            </a:solidFill>
            <a:prstDash val="solid"/>
          </a:ln>
        </p:spPr>
      </p:sp>
      <p:sp>
        <p:nvSpPr>
          <p:cNvPr id="14" name="Shape 12"/>
          <p:cNvSpPr/>
          <p:nvPr/>
        </p:nvSpPr>
        <p:spPr>
          <a:xfrm>
            <a:off x="2436876" y="3337560"/>
            <a:ext cx="169164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15" name="Text 13"/>
          <p:cNvSpPr/>
          <p:nvPr/>
        </p:nvSpPr>
        <p:spPr>
          <a:xfrm>
            <a:off x="2482596" y="3337560"/>
            <a:ext cx="1600200" cy="777240"/>
          </a:xfrm>
          <a:prstGeom prst="rect">
            <a:avLst/>
          </a:prstGeom>
          <a:noFill/>
          <a:ln/>
        </p:spPr>
        <p:txBody>
          <a:bodyPr wrap="square" lIns="0" tIns="0" rIns="0" bIns="0" rtlCol="0" anchor="ctr"/>
          <a:lstStyle/>
          <a:p>
            <a:pPr marL="0" indent="0" algn="ctr">
              <a:buNone/>
            </a:pPr>
            <a:r>
              <a:rPr lang="en-US" sz="1150" b="1" dirty="0">
                <a:solidFill>
                  <a:srgbClr val="2B2B30"/>
                </a:solidFill>
                <a:latin typeface="Calibri" pitchFamily="34" charset="0"/>
                <a:ea typeface="Calibri" pitchFamily="34" charset="-122"/>
                <a:cs typeface="Calibri" pitchFamily="34" charset="-120"/>
              </a:rPr>
              <a:t>Tambah Setup</a:t>
            </a:r>
            <a:endParaRPr lang="en-US" sz="1150" dirty="0"/>
          </a:p>
        </p:txBody>
      </p:sp>
      <p:sp>
        <p:nvSpPr>
          <p:cNvPr id="16" name="Shape 14"/>
          <p:cNvSpPr/>
          <p:nvPr/>
        </p:nvSpPr>
        <p:spPr>
          <a:xfrm>
            <a:off x="5157216" y="2880360"/>
            <a:ext cx="0" cy="457200"/>
          </a:xfrm>
          <a:prstGeom prst="line">
            <a:avLst/>
          </a:prstGeom>
          <a:noFill/>
          <a:ln w="19050">
            <a:solidFill>
              <a:srgbClr val="6B7280"/>
            </a:solidFill>
            <a:prstDash val="solid"/>
          </a:ln>
        </p:spPr>
      </p:sp>
      <p:sp>
        <p:nvSpPr>
          <p:cNvPr id="17" name="Shape 15"/>
          <p:cNvSpPr/>
          <p:nvPr/>
        </p:nvSpPr>
        <p:spPr>
          <a:xfrm>
            <a:off x="4311396" y="3337560"/>
            <a:ext cx="169164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18" name="Text 16"/>
          <p:cNvSpPr/>
          <p:nvPr/>
        </p:nvSpPr>
        <p:spPr>
          <a:xfrm>
            <a:off x="4357116" y="3337560"/>
            <a:ext cx="1600200" cy="777240"/>
          </a:xfrm>
          <a:prstGeom prst="rect">
            <a:avLst/>
          </a:prstGeom>
          <a:noFill/>
          <a:ln/>
        </p:spPr>
        <p:txBody>
          <a:bodyPr wrap="square" lIns="0" tIns="0" rIns="0" bIns="0" rtlCol="0" anchor="ctr"/>
          <a:lstStyle/>
          <a:p>
            <a:pPr marL="0" indent="0" algn="ctr">
              <a:buNone/>
            </a:pPr>
            <a:r>
              <a:rPr lang="en-US" sz="1150" b="1" dirty="0">
                <a:solidFill>
                  <a:srgbClr val="2B2B30"/>
                </a:solidFill>
                <a:latin typeface="Calibri" pitchFamily="34" charset="0"/>
                <a:ea typeface="Calibri" pitchFamily="34" charset="-122"/>
                <a:cs typeface="Calibri" pitchFamily="34" charset="-120"/>
              </a:rPr>
              <a:t>Detail Setup</a:t>
            </a:r>
            <a:endParaRPr lang="en-US" sz="1150" dirty="0"/>
          </a:p>
        </p:txBody>
      </p:sp>
      <p:sp>
        <p:nvSpPr>
          <p:cNvPr id="19" name="Shape 17"/>
          <p:cNvSpPr/>
          <p:nvPr/>
        </p:nvSpPr>
        <p:spPr>
          <a:xfrm>
            <a:off x="7031736" y="2880360"/>
            <a:ext cx="0" cy="457200"/>
          </a:xfrm>
          <a:prstGeom prst="line">
            <a:avLst/>
          </a:prstGeom>
          <a:noFill/>
          <a:ln w="19050">
            <a:solidFill>
              <a:srgbClr val="6B7280"/>
            </a:solidFill>
            <a:prstDash val="solid"/>
          </a:ln>
        </p:spPr>
      </p:sp>
      <p:sp>
        <p:nvSpPr>
          <p:cNvPr id="20" name="Shape 18"/>
          <p:cNvSpPr/>
          <p:nvPr/>
        </p:nvSpPr>
        <p:spPr>
          <a:xfrm>
            <a:off x="6185916" y="3337560"/>
            <a:ext cx="169164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21" name="Text 19"/>
          <p:cNvSpPr/>
          <p:nvPr/>
        </p:nvSpPr>
        <p:spPr>
          <a:xfrm>
            <a:off x="6231636" y="3337560"/>
            <a:ext cx="1600200" cy="777240"/>
          </a:xfrm>
          <a:prstGeom prst="rect">
            <a:avLst/>
          </a:prstGeom>
          <a:noFill/>
          <a:ln/>
        </p:spPr>
        <p:txBody>
          <a:bodyPr wrap="square" lIns="0" tIns="0" rIns="0" bIns="0" rtlCol="0" anchor="ctr"/>
          <a:lstStyle/>
          <a:p>
            <a:pPr marL="0" indent="0" algn="ctr">
              <a:buNone/>
            </a:pPr>
            <a:r>
              <a:rPr lang="en-US" sz="1150" b="1" dirty="0">
                <a:solidFill>
                  <a:srgbClr val="2B2B30"/>
                </a:solidFill>
                <a:latin typeface="Calibri" pitchFamily="34" charset="0"/>
                <a:ea typeface="Calibri" pitchFamily="34" charset="-122"/>
                <a:cs typeface="Calibri" pitchFamily="34" charset="-120"/>
              </a:rPr>
              <a:t>Edit Setup</a:t>
            </a:r>
            <a:endParaRPr lang="en-US" sz="1150" dirty="0"/>
          </a:p>
        </p:txBody>
      </p:sp>
      <p:sp>
        <p:nvSpPr>
          <p:cNvPr id="22" name="Shape 20"/>
          <p:cNvSpPr/>
          <p:nvPr/>
        </p:nvSpPr>
        <p:spPr>
          <a:xfrm>
            <a:off x="8906256" y="2880360"/>
            <a:ext cx="0" cy="457200"/>
          </a:xfrm>
          <a:prstGeom prst="line">
            <a:avLst/>
          </a:prstGeom>
          <a:noFill/>
          <a:ln w="19050">
            <a:solidFill>
              <a:srgbClr val="6B7280"/>
            </a:solidFill>
            <a:prstDash val="solid"/>
          </a:ln>
        </p:spPr>
      </p:sp>
      <p:sp>
        <p:nvSpPr>
          <p:cNvPr id="23" name="Shape 21"/>
          <p:cNvSpPr/>
          <p:nvPr/>
        </p:nvSpPr>
        <p:spPr>
          <a:xfrm>
            <a:off x="8060436" y="3337560"/>
            <a:ext cx="169164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24" name="Text 22"/>
          <p:cNvSpPr/>
          <p:nvPr/>
        </p:nvSpPr>
        <p:spPr>
          <a:xfrm>
            <a:off x="8106156" y="3337560"/>
            <a:ext cx="1600200" cy="777240"/>
          </a:xfrm>
          <a:prstGeom prst="rect">
            <a:avLst/>
          </a:prstGeom>
          <a:noFill/>
          <a:ln/>
        </p:spPr>
        <p:txBody>
          <a:bodyPr wrap="square" lIns="0" tIns="0" rIns="0" bIns="0" rtlCol="0" anchor="ctr"/>
          <a:lstStyle/>
          <a:p>
            <a:pPr marL="0" indent="0" algn="ctr">
              <a:buNone/>
            </a:pPr>
            <a:r>
              <a:rPr lang="en-US" sz="1150" b="1" dirty="0">
                <a:solidFill>
                  <a:srgbClr val="2B2B30"/>
                </a:solidFill>
                <a:latin typeface="Calibri" pitchFamily="34" charset="0"/>
                <a:ea typeface="Calibri" pitchFamily="34" charset="-122"/>
                <a:cs typeface="Calibri" pitchFamily="34" charset="-120"/>
              </a:rPr>
              <a:t>Export</a:t>
            </a:r>
            <a:endParaRPr lang="en-US" sz="1150" dirty="0"/>
          </a:p>
        </p:txBody>
      </p:sp>
      <p:sp>
        <p:nvSpPr>
          <p:cNvPr id="25" name="Shape 23"/>
          <p:cNvSpPr/>
          <p:nvPr/>
        </p:nvSpPr>
        <p:spPr>
          <a:xfrm>
            <a:off x="10780776" y="2880360"/>
            <a:ext cx="0" cy="457200"/>
          </a:xfrm>
          <a:prstGeom prst="line">
            <a:avLst/>
          </a:prstGeom>
          <a:noFill/>
          <a:ln w="19050">
            <a:solidFill>
              <a:srgbClr val="6B7280"/>
            </a:solidFill>
            <a:prstDash val="solid"/>
          </a:ln>
        </p:spPr>
      </p:sp>
      <p:sp>
        <p:nvSpPr>
          <p:cNvPr id="26" name="Shape 24"/>
          <p:cNvSpPr/>
          <p:nvPr/>
        </p:nvSpPr>
        <p:spPr>
          <a:xfrm>
            <a:off x="9934956" y="3337560"/>
            <a:ext cx="1691640" cy="777240"/>
          </a:xfrm>
          <a:prstGeom prst="roundRect">
            <a:avLst>
              <a:gd name="adj" fmla="val 10588"/>
            </a:avLst>
          </a:prstGeom>
          <a:solidFill>
            <a:srgbClr val="FFFFFF"/>
          </a:solidFill>
          <a:ln/>
          <a:effectLst>
            <a:outerShdw blurRad="101600" dist="38100" dir="5400000" algn="bl" rotWithShape="0">
              <a:srgbClr val="000000">
                <a:alpha val="12000"/>
              </a:srgbClr>
            </a:outerShdw>
          </a:effectLst>
        </p:spPr>
      </p:sp>
      <p:sp>
        <p:nvSpPr>
          <p:cNvPr id="27" name="Text 25"/>
          <p:cNvSpPr/>
          <p:nvPr/>
        </p:nvSpPr>
        <p:spPr>
          <a:xfrm>
            <a:off x="9980676" y="3337560"/>
            <a:ext cx="1600200" cy="777240"/>
          </a:xfrm>
          <a:prstGeom prst="rect">
            <a:avLst/>
          </a:prstGeom>
          <a:noFill/>
          <a:ln/>
        </p:spPr>
        <p:txBody>
          <a:bodyPr wrap="square" lIns="0" tIns="0" rIns="0" bIns="0" rtlCol="0" anchor="ctr"/>
          <a:lstStyle/>
          <a:p>
            <a:pPr marL="0" indent="0" algn="ctr">
              <a:buNone/>
            </a:pPr>
            <a:r>
              <a:rPr lang="en-US" sz="1150" b="1" dirty="0">
                <a:solidFill>
                  <a:srgbClr val="2B2B30"/>
                </a:solidFill>
                <a:latin typeface="Calibri" pitchFamily="34" charset="0"/>
                <a:ea typeface="Calibri" pitchFamily="34" charset="-122"/>
                <a:cs typeface="Calibri" pitchFamily="34" charset="-120"/>
              </a:rPr>
              <a:t>About</a:t>
            </a:r>
            <a:endParaRPr lang="en-US" sz="115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1A1D"/>
        </a:solidFill>
        <a:effectLst/>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A1D"/>
          </a:solidFill>
          <a:ln/>
        </p:spPr>
      </p:sp>
      <p:sp>
        <p:nvSpPr>
          <p:cNvPr id="3" name="Text 1"/>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ORGANISASI KODE</a:t>
            </a:r>
            <a:endParaRPr lang="en-US" sz="1200" dirty="0"/>
          </a:p>
        </p:txBody>
      </p:sp>
      <p:sp>
        <p:nvSpPr>
          <p:cNvPr id="4" name="Text 2"/>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Struktur Folder Project</a:t>
            </a:r>
            <a:endParaRPr lang="en-US" sz="3200" dirty="0"/>
          </a:p>
        </p:txBody>
      </p:sp>
      <p:sp>
        <p:nvSpPr>
          <p:cNvPr id="5" name="Text 3"/>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6" name="Text 4"/>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13</a:t>
            </a:r>
            <a:endParaRPr lang="en-US" sz="900" dirty="0"/>
          </a:p>
        </p:txBody>
      </p:sp>
      <p:sp>
        <p:nvSpPr>
          <p:cNvPr id="7" name="Shape 5"/>
          <p:cNvSpPr/>
          <p:nvPr/>
        </p:nvSpPr>
        <p:spPr>
          <a:xfrm>
            <a:off x="548640" y="1783080"/>
            <a:ext cx="5852160" cy="4023360"/>
          </a:xfrm>
          <a:prstGeom prst="roundRect">
            <a:avLst>
              <a:gd name="adj" fmla="val 2273"/>
            </a:avLst>
          </a:prstGeom>
          <a:solidFill>
            <a:srgbClr val="111113"/>
          </a:solidFill>
          <a:ln/>
        </p:spPr>
      </p:sp>
      <p:sp>
        <p:nvSpPr>
          <p:cNvPr id="8" name="Text 6"/>
          <p:cNvSpPr/>
          <p:nvPr/>
        </p:nvSpPr>
        <p:spPr>
          <a:xfrm>
            <a:off x="868680" y="2011680"/>
            <a:ext cx="5303520" cy="3566160"/>
          </a:xfrm>
          <a:prstGeom prst="rect">
            <a:avLst/>
          </a:prstGeom>
          <a:noFill/>
          <a:ln/>
        </p:spPr>
        <p:txBody>
          <a:bodyPr wrap="square" lIns="0" tIns="0" rIns="0" bIns="0" rtlCol="0" anchor="ctr"/>
          <a:lstStyle/>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race-setup-garage/</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app/</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components/</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api/</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data/</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 setup.json</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lib/</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hooks/</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public/</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styles/</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types/</a:t>
            </a:r>
            <a:endParaRPr lang="en-US" sz="1400" dirty="0"/>
          </a:p>
          <a:p>
            <a:pPr marL="0" indent="0">
              <a:lnSpc>
                <a:spcPct val="135000"/>
              </a:lnSpc>
              <a:buNone/>
            </a:pPr>
            <a:r>
              <a:rPr lang="en-US" sz="1400" dirty="0">
                <a:solidFill>
                  <a:srgbClr val="8FE3A0"/>
                </a:solidFill>
                <a:latin typeface="Courier New" pitchFamily="34" charset="0"/>
                <a:ea typeface="Courier New" pitchFamily="34" charset="-122"/>
                <a:cs typeface="Courier New" pitchFamily="34" charset="-120"/>
              </a:rPr>
              <a:t>└── utils/</a:t>
            </a:r>
            <a:endParaRPr lang="en-US" sz="1400" dirty="0"/>
          </a:p>
        </p:txBody>
      </p:sp>
      <p:pic>
        <p:nvPicPr>
          <p:cNvPr id="9" name="Image 0" descr="preencoded.png"/>
          <p:cNvPicPr>
            <a:picLocks noChangeAspect="1"/>
          </p:cNvPicPr>
          <p:nvPr/>
        </p:nvPicPr>
        <p:blipFill>
          <a:blip r:embed="rId3"/>
          <a:stretch>
            <a:fillRect/>
          </a:stretch>
        </p:blipFill>
        <p:spPr>
          <a:xfrm>
            <a:off x="6720840" y="1865376"/>
            <a:ext cx="457200" cy="457200"/>
          </a:xfrm>
          <a:prstGeom prst="rect">
            <a:avLst/>
          </a:prstGeom>
        </p:spPr>
      </p:pic>
      <p:sp>
        <p:nvSpPr>
          <p:cNvPr id="10" name="Text 7"/>
          <p:cNvSpPr/>
          <p:nvPr/>
        </p:nvSpPr>
        <p:spPr>
          <a:xfrm>
            <a:off x="7315200" y="1783080"/>
            <a:ext cx="44805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app/  </a:t>
            </a:r>
            <a:r>
              <a:rPr lang="en-US" sz="1350" dirty="0">
                <a:solidFill>
                  <a:srgbClr val="B9B9BE"/>
                </a:solidFill>
                <a:latin typeface="Calibri" pitchFamily="34" charset="0"/>
                <a:ea typeface="Calibri" pitchFamily="34" charset="-122"/>
                <a:cs typeface="Calibri" pitchFamily="34" charset="-120"/>
              </a:rPr>
              <a:t>Halaman &amp; routing utama</a:t>
            </a:r>
            <a:endParaRPr lang="en-US" sz="1350" dirty="0"/>
          </a:p>
        </p:txBody>
      </p:sp>
      <p:pic>
        <p:nvPicPr>
          <p:cNvPr id="11" name="Image 1" descr="preencoded.png"/>
          <p:cNvPicPr>
            <a:picLocks noChangeAspect="1"/>
          </p:cNvPicPr>
          <p:nvPr/>
        </p:nvPicPr>
        <p:blipFill>
          <a:blip r:embed="rId3"/>
          <a:stretch>
            <a:fillRect/>
          </a:stretch>
        </p:blipFill>
        <p:spPr>
          <a:xfrm>
            <a:off x="6720840" y="2542032"/>
            <a:ext cx="457200" cy="457200"/>
          </a:xfrm>
          <a:prstGeom prst="rect">
            <a:avLst/>
          </a:prstGeom>
        </p:spPr>
      </p:pic>
      <p:sp>
        <p:nvSpPr>
          <p:cNvPr id="12" name="Text 8"/>
          <p:cNvSpPr/>
          <p:nvPr/>
        </p:nvSpPr>
        <p:spPr>
          <a:xfrm>
            <a:off x="7315200" y="2459736"/>
            <a:ext cx="44805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components/  </a:t>
            </a:r>
            <a:r>
              <a:rPr lang="en-US" sz="1350" dirty="0">
                <a:solidFill>
                  <a:srgbClr val="B9B9BE"/>
                </a:solidFill>
                <a:latin typeface="Calibri" pitchFamily="34" charset="0"/>
                <a:ea typeface="Calibri" pitchFamily="34" charset="-122"/>
                <a:cs typeface="Calibri" pitchFamily="34" charset="-120"/>
              </a:rPr>
              <a:t>Komponen UI reusable</a:t>
            </a:r>
            <a:endParaRPr lang="en-US" sz="1350" dirty="0"/>
          </a:p>
        </p:txBody>
      </p:sp>
      <p:pic>
        <p:nvPicPr>
          <p:cNvPr id="13" name="Image 2" descr="preencoded.png"/>
          <p:cNvPicPr>
            <a:picLocks noChangeAspect="1"/>
          </p:cNvPicPr>
          <p:nvPr/>
        </p:nvPicPr>
        <p:blipFill>
          <a:blip r:embed="rId3"/>
          <a:stretch>
            <a:fillRect/>
          </a:stretch>
        </p:blipFill>
        <p:spPr>
          <a:xfrm>
            <a:off x="6720840" y="3218688"/>
            <a:ext cx="457200" cy="457200"/>
          </a:xfrm>
          <a:prstGeom prst="rect">
            <a:avLst/>
          </a:prstGeom>
        </p:spPr>
      </p:pic>
      <p:sp>
        <p:nvSpPr>
          <p:cNvPr id="14" name="Text 9"/>
          <p:cNvSpPr/>
          <p:nvPr/>
        </p:nvSpPr>
        <p:spPr>
          <a:xfrm>
            <a:off x="7315200" y="3136392"/>
            <a:ext cx="44805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api/  </a:t>
            </a:r>
            <a:r>
              <a:rPr lang="en-US" sz="1350" dirty="0">
                <a:solidFill>
                  <a:srgbClr val="B9B9BE"/>
                </a:solidFill>
                <a:latin typeface="Calibri" pitchFamily="34" charset="0"/>
                <a:ea typeface="Calibri" pitchFamily="34" charset="-122"/>
                <a:cs typeface="Calibri" pitchFamily="34" charset="-120"/>
              </a:rPr>
              <a:t>Route handler CRUD</a:t>
            </a:r>
            <a:endParaRPr lang="en-US" sz="1350" dirty="0"/>
          </a:p>
        </p:txBody>
      </p:sp>
      <p:pic>
        <p:nvPicPr>
          <p:cNvPr id="15" name="Image 3" descr="preencoded.png"/>
          <p:cNvPicPr>
            <a:picLocks noChangeAspect="1"/>
          </p:cNvPicPr>
          <p:nvPr/>
        </p:nvPicPr>
        <p:blipFill>
          <a:blip r:embed="rId3"/>
          <a:stretch>
            <a:fillRect/>
          </a:stretch>
        </p:blipFill>
        <p:spPr>
          <a:xfrm>
            <a:off x="6720840" y="3895344"/>
            <a:ext cx="457200" cy="457200"/>
          </a:xfrm>
          <a:prstGeom prst="rect">
            <a:avLst/>
          </a:prstGeom>
        </p:spPr>
      </p:pic>
      <p:sp>
        <p:nvSpPr>
          <p:cNvPr id="16" name="Text 10"/>
          <p:cNvSpPr/>
          <p:nvPr/>
        </p:nvSpPr>
        <p:spPr>
          <a:xfrm>
            <a:off x="7315200" y="3813048"/>
            <a:ext cx="44805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data/  </a:t>
            </a:r>
            <a:r>
              <a:rPr lang="en-US" sz="1350" dirty="0">
                <a:solidFill>
                  <a:srgbClr val="B9B9BE"/>
                </a:solidFill>
                <a:latin typeface="Calibri" pitchFamily="34" charset="0"/>
                <a:ea typeface="Calibri" pitchFamily="34" charset="-122"/>
                <a:cs typeface="Calibri" pitchFamily="34" charset="-120"/>
              </a:rPr>
              <a:t>File setup.json</a:t>
            </a:r>
            <a:endParaRPr lang="en-US" sz="1350" dirty="0"/>
          </a:p>
        </p:txBody>
      </p:sp>
      <p:pic>
        <p:nvPicPr>
          <p:cNvPr id="17" name="Image 4" descr="preencoded.png"/>
          <p:cNvPicPr>
            <a:picLocks noChangeAspect="1"/>
          </p:cNvPicPr>
          <p:nvPr/>
        </p:nvPicPr>
        <p:blipFill>
          <a:blip r:embed="rId3"/>
          <a:stretch>
            <a:fillRect/>
          </a:stretch>
        </p:blipFill>
        <p:spPr>
          <a:xfrm>
            <a:off x="6720840" y="4572000"/>
            <a:ext cx="457200" cy="457200"/>
          </a:xfrm>
          <a:prstGeom prst="rect">
            <a:avLst/>
          </a:prstGeom>
        </p:spPr>
      </p:pic>
      <p:sp>
        <p:nvSpPr>
          <p:cNvPr id="18" name="Text 11"/>
          <p:cNvSpPr/>
          <p:nvPr/>
        </p:nvSpPr>
        <p:spPr>
          <a:xfrm>
            <a:off x="7315200" y="4489704"/>
            <a:ext cx="44805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lib/ &amp; utils/  </a:t>
            </a:r>
            <a:r>
              <a:rPr lang="en-US" sz="1350" dirty="0">
                <a:solidFill>
                  <a:srgbClr val="B9B9BE"/>
                </a:solidFill>
                <a:latin typeface="Calibri" pitchFamily="34" charset="0"/>
                <a:ea typeface="Calibri" pitchFamily="34" charset="-122"/>
                <a:cs typeface="Calibri" pitchFamily="34" charset="-120"/>
              </a:rPr>
              <a:t>Fungsi bantu &amp; helper</a:t>
            </a:r>
            <a:endParaRPr lang="en-US" sz="1350" dirty="0"/>
          </a:p>
        </p:txBody>
      </p:sp>
      <p:pic>
        <p:nvPicPr>
          <p:cNvPr id="19" name="Image 5" descr="preencoded.png"/>
          <p:cNvPicPr>
            <a:picLocks noChangeAspect="1"/>
          </p:cNvPicPr>
          <p:nvPr/>
        </p:nvPicPr>
        <p:blipFill>
          <a:blip r:embed="rId3"/>
          <a:stretch>
            <a:fillRect/>
          </a:stretch>
        </p:blipFill>
        <p:spPr>
          <a:xfrm>
            <a:off x="6720840" y="5248656"/>
            <a:ext cx="457200" cy="457200"/>
          </a:xfrm>
          <a:prstGeom prst="rect">
            <a:avLst/>
          </a:prstGeom>
        </p:spPr>
      </p:pic>
      <p:sp>
        <p:nvSpPr>
          <p:cNvPr id="20" name="Text 12"/>
          <p:cNvSpPr/>
          <p:nvPr/>
        </p:nvSpPr>
        <p:spPr>
          <a:xfrm>
            <a:off x="7315200" y="5166360"/>
            <a:ext cx="44805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types/  </a:t>
            </a:r>
            <a:r>
              <a:rPr lang="en-US" sz="1350" dirty="0">
                <a:solidFill>
                  <a:srgbClr val="B9B9BE"/>
                </a:solidFill>
                <a:latin typeface="Calibri" pitchFamily="34" charset="0"/>
                <a:ea typeface="Calibri" pitchFamily="34" charset="-122"/>
                <a:cs typeface="Calibri" pitchFamily="34" charset="-120"/>
              </a:rPr>
              <a:t>Definisi tipe TypeScript</a:t>
            </a:r>
            <a:endParaRPr lang="en-US" sz="135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SPESIFIKASI</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Kebutuhan Sistem</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783080"/>
            <a:ext cx="5349240" cy="4114800"/>
          </a:xfrm>
          <a:prstGeom prst="roundRect">
            <a:avLst>
              <a:gd name="adj" fmla="val 2667"/>
            </a:avLst>
          </a:prstGeom>
          <a:solidFill>
            <a:srgbClr val="F2F2F4"/>
          </a:solidFill>
          <a:ln/>
          <a:effectLst>
            <a:outerShdw blurRad="101600" dist="38100" dir="5400000" algn="bl" rotWithShape="0">
              <a:srgbClr val="000000">
                <a:alpha val="12000"/>
              </a:srgbClr>
            </a:outerShdw>
          </a:effectLst>
        </p:spPr>
      </p:sp>
      <p:pic>
        <p:nvPicPr>
          <p:cNvPr id="7" name="Image 0" descr="preencoded.png"/>
          <p:cNvPicPr>
            <a:picLocks noChangeAspect="1"/>
          </p:cNvPicPr>
          <p:nvPr/>
        </p:nvPicPr>
        <p:blipFill>
          <a:blip r:embed="rId3"/>
          <a:stretch>
            <a:fillRect/>
          </a:stretch>
        </p:blipFill>
        <p:spPr>
          <a:xfrm>
            <a:off x="868680" y="2103120"/>
            <a:ext cx="438912" cy="438912"/>
          </a:xfrm>
          <a:prstGeom prst="rect">
            <a:avLst/>
          </a:prstGeom>
        </p:spPr>
      </p:pic>
      <p:sp>
        <p:nvSpPr>
          <p:cNvPr id="8" name="Text 5"/>
          <p:cNvSpPr/>
          <p:nvPr/>
        </p:nvSpPr>
        <p:spPr>
          <a:xfrm>
            <a:off x="1463040" y="2130552"/>
            <a:ext cx="4206240" cy="457200"/>
          </a:xfrm>
          <a:prstGeom prst="rect">
            <a:avLst/>
          </a:prstGeom>
          <a:noFill/>
          <a:ln/>
        </p:spPr>
        <p:txBody>
          <a:bodyPr wrap="square" lIns="0" tIns="0" rIns="0" bIns="0" rtlCol="0" anchor="ctr"/>
          <a:lstStyle/>
          <a:p>
            <a:pPr marL="0" indent="0">
              <a:buNone/>
            </a:pPr>
            <a:r>
              <a:rPr lang="en-US" sz="1700" b="1" dirty="0">
                <a:solidFill>
                  <a:srgbClr val="1A1A1D"/>
                </a:solidFill>
                <a:latin typeface="Cambria" pitchFamily="34" charset="0"/>
                <a:ea typeface="Cambria" pitchFamily="34" charset="-122"/>
                <a:cs typeface="Cambria" pitchFamily="34" charset="-120"/>
              </a:rPr>
              <a:t>Kebutuhan Fungsional</a:t>
            </a:r>
            <a:endParaRPr lang="en-US" sz="1700" dirty="0"/>
          </a:p>
        </p:txBody>
      </p:sp>
      <p:sp>
        <p:nvSpPr>
          <p:cNvPr id="9" name="Text 6"/>
          <p:cNvSpPr/>
          <p:nvPr/>
        </p:nvSpPr>
        <p:spPr>
          <a:xfrm>
            <a:off x="914400" y="2743200"/>
            <a:ext cx="4663440" cy="2926080"/>
          </a:xfrm>
          <a:prstGeom prst="rect">
            <a:avLst/>
          </a:prstGeom>
          <a:noFill/>
          <a:ln/>
        </p:spPr>
        <p:txBody>
          <a:bodyPr wrap="square" lIns="0" tIns="0" rIns="0" bIns="0" rtlCol="0" anchor="ctr"/>
          <a:lstStyle/>
          <a:p>
            <a:pPr marL="342900" indent="-342900">
              <a:lnSpc>
                <a:spcPct val="150000"/>
              </a:lnSpc>
              <a:buSzPct val="100000"/>
              <a:buChar char="•"/>
            </a:pPr>
            <a:r>
              <a:rPr lang="en-US" sz="1400" dirty="0">
                <a:solidFill>
                  <a:srgbClr val="2B2B30"/>
                </a:solidFill>
                <a:latin typeface="Calibri" pitchFamily="34" charset="0"/>
                <a:ea typeface="Calibri" pitchFamily="34" charset="-122"/>
                <a:cs typeface="Calibri" pitchFamily="34" charset="-120"/>
              </a:rPr>
              <a:t>CRUD data setup</a:t>
            </a:r>
            <a:endParaRPr lang="en-US" sz="1400" dirty="0"/>
          </a:p>
          <a:p>
            <a:pPr marL="342900" indent="-342900">
              <a:lnSpc>
                <a:spcPct val="150000"/>
              </a:lnSpc>
              <a:buSzPct val="100000"/>
              <a:buChar char="•"/>
            </a:pPr>
            <a:r>
              <a:rPr lang="en-US" sz="1400" dirty="0">
                <a:solidFill>
                  <a:srgbClr val="2B2B30"/>
                </a:solidFill>
                <a:latin typeface="Calibri" pitchFamily="34" charset="0"/>
                <a:ea typeface="Calibri" pitchFamily="34" charset="-122"/>
                <a:cs typeface="Calibri" pitchFamily="34" charset="-120"/>
              </a:rPr>
              <a:t>Search berdasarkan motor/sirkuit</a:t>
            </a:r>
            <a:endParaRPr lang="en-US" sz="1400" dirty="0"/>
          </a:p>
          <a:p>
            <a:pPr marL="342900" indent="-342900">
              <a:lnSpc>
                <a:spcPct val="150000"/>
              </a:lnSpc>
              <a:buSzPct val="100000"/>
              <a:buChar char="•"/>
            </a:pPr>
            <a:r>
              <a:rPr lang="en-US" sz="1400" dirty="0">
                <a:solidFill>
                  <a:srgbClr val="2B2B30"/>
                </a:solidFill>
                <a:latin typeface="Calibri" pitchFamily="34" charset="0"/>
                <a:ea typeface="Calibri" pitchFamily="34" charset="-122"/>
                <a:cs typeface="Calibri" pitchFamily="34" charset="-120"/>
              </a:rPr>
              <a:t>Filter data setup</a:t>
            </a:r>
            <a:endParaRPr lang="en-US" sz="1400" dirty="0"/>
          </a:p>
          <a:p>
            <a:pPr marL="342900" indent="-342900">
              <a:lnSpc>
                <a:spcPct val="150000"/>
              </a:lnSpc>
              <a:buSzPct val="100000"/>
              <a:buChar char="•"/>
            </a:pPr>
            <a:r>
              <a:rPr lang="en-US" sz="1400" dirty="0">
                <a:solidFill>
                  <a:srgbClr val="2B2B30"/>
                </a:solidFill>
                <a:latin typeface="Calibri" pitchFamily="34" charset="0"/>
                <a:ea typeface="Calibri" pitchFamily="34" charset="-122"/>
                <a:cs typeface="Calibri" pitchFamily="34" charset="-120"/>
              </a:rPr>
              <a:t>Sorting data</a:t>
            </a:r>
            <a:endParaRPr lang="en-US" sz="1400" dirty="0"/>
          </a:p>
          <a:p>
            <a:pPr marL="342900" indent="-342900">
              <a:lnSpc>
                <a:spcPct val="150000"/>
              </a:lnSpc>
              <a:buSzPct val="100000"/>
              <a:buChar char="•"/>
            </a:pPr>
            <a:r>
              <a:rPr lang="en-US" sz="1400" dirty="0">
                <a:solidFill>
                  <a:srgbClr val="2B2B30"/>
                </a:solidFill>
                <a:latin typeface="Calibri" pitchFamily="34" charset="0"/>
                <a:ea typeface="Calibri" pitchFamily="34" charset="-122"/>
                <a:cs typeface="Calibri" pitchFamily="34" charset="-120"/>
              </a:rPr>
              <a:t>Export ke PDF</a:t>
            </a:r>
            <a:endParaRPr lang="en-US" sz="1400" dirty="0"/>
          </a:p>
          <a:p>
            <a:pPr marL="342900" indent="-342900">
              <a:lnSpc>
                <a:spcPct val="150000"/>
              </a:lnSpc>
              <a:buSzPct val="100000"/>
              <a:buChar char="•"/>
            </a:pPr>
            <a:r>
              <a:rPr lang="en-US" sz="1400" dirty="0">
                <a:solidFill>
                  <a:srgbClr val="2B2B30"/>
                </a:solidFill>
                <a:latin typeface="Calibri" pitchFamily="34" charset="0"/>
                <a:ea typeface="Calibri" pitchFamily="34" charset="-122"/>
                <a:cs typeface="Calibri" pitchFamily="34" charset="-120"/>
              </a:rPr>
              <a:t>Export ke Excel</a:t>
            </a:r>
            <a:endParaRPr lang="en-US" sz="1400" dirty="0"/>
          </a:p>
        </p:txBody>
      </p:sp>
      <p:sp>
        <p:nvSpPr>
          <p:cNvPr id="10" name="Shape 7"/>
          <p:cNvSpPr/>
          <p:nvPr/>
        </p:nvSpPr>
        <p:spPr>
          <a:xfrm>
            <a:off x="6263640" y="1783080"/>
            <a:ext cx="5349240" cy="4114800"/>
          </a:xfrm>
          <a:prstGeom prst="roundRect">
            <a:avLst>
              <a:gd name="adj" fmla="val 2667"/>
            </a:avLst>
          </a:prstGeom>
          <a:solidFill>
            <a:srgbClr val="1A1A1D"/>
          </a:solidFill>
          <a:ln/>
          <a:effectLst>
            <a:outerShdw blurRad="101600" dist="38100" dir="5400000" algn="bl" rotWithShape="0">
              <a:srgbClr val="000000">
                <a:alpha val="12000"/>
              </a:srgbClr>
            </a:outerShdw>
          </a:effectLst>
        </p:spPr>
      </p:sp>
      <p:pic>
        <p:nvPicPr>
          <p:cNvPr id="11" name="Image 1" descr="preencoded.png"/>
          <p:cNvPicPr>
            <a:picLocks noChangeAspect="1"/>
          </p:cNvPicPr>
          <p:nvPr/>
        </p:nvPicPr>
        <p:blipFill>
          <a:blip r:embed="rId4"/>
          <a:stretch>
            <a:fillRect/>
          </a:stretch>
        </p:blipFill>
        <p:spPr>
          <a:xfrm>
            <a:off x="6583680" y="2103120"/>
            <a:ext cx="438912" cy="438912"/>
          </a:xfrm>
          <a:prstGeom prst="rect">
            <a:avLst/>
          </a:prstGeom>
        </p:spPr>
      </p:pic>
      <p:sp>
        <p:nvSpPr>
          <p:cNvPr id="12" name="Text 8"/>
          <p:cNvSpPr/>
          <p:nvPr/>
        </p:nvSpPr>
        <p:spPr>
          <a:xfrm>
            <a:off x="7178040" y="2130552"/>
            <a:ext cx="4206240" cy="457200"/>
          </a:xfrm>
          <a:prstGeom prst="rect">
            <a:avLst/>
          </a:prstGeom>
          <a:noFill/>
          <a:ln/>
        </p:spPr>
        <p:txBody>
          <a:bodyPr wrap="square" lIns="0" tIns="0" rIns="0" bIns="0" rtlCol="0" anchor="ctr"/>
          <a:lstStyle/>
          <a:p>
            <a:pPr marL="0" indent="0">
              <a:buNone/>
            </a:pPr>
            <a:r>
              <a:rPr lang="en-US" sz="1700" b="1" dirty="0">
                <a:solidFill>
                  <a:srgbClr val="FFFFFF"/>
                </a:solidFill>
                <a:latin typeface="Cambria" pitchFamily="34" charset="0"/>
                <a:ea typeface="Cambria" pitchFamily="34" charset="-122"/>
                <a:cs typeface="Cambria" pitchFamily="34" charset="-120"/>
              </a:rPr>
              <a:t>Kebutuhan Non-Fungsional</a:t>
            </a:r>
            <a:endParaRPr lang="en-US" sz="1700" dirty="0"/>
          </a:p>
        </p:txBody>
      </p:sp>
      <p:sp>
        <p:nvSpPr>
          <p:cNvPr id="13" name="Text 9"/>
          <p:cNvSpPr/>
          <p:nvPr/>
        </p:nvSpPr>
        <p:spPr>
          <a:xfrm>
            <a:off x="6629400" y="2743200"/>
            <a:ext cx="4663440" cy="2926080"/>
          </a:xfrm>
          <a:prstGeom prst="rect">
            <a:avLst/>
          </a:prstGeom>
          <a:noFill/>
          <a:ln/>
        </p:spPr>
        <p:txBody>
          <a:bodyPr wrap="square" lIns="0" tIns="0" rIns="0" bIns="0" rtlCol="0" anchor="ctr"/>
          <a:lstStyle/>
          <a:p>
            <a:pPr marL="342900" indent="-342900">
              <a:lnSpc>
                <a:spcPct val="150000"/>
              </a:lnSpc>
              <a:buSzPct val="100000"/>
              <a:buChar char="•"/>
            </a:pPr>
            <a:r>
              <a:rPr lang="en-US" sz="1400" dirty="0">
                <a:solidFill>
                  <a:srgbClr val="D8D8DC"/>
                </a:solidFill>
                <a:latin typeface="Calibri" pitchFamily="34" charset="0"/>
                <a:ea typeface="Calibri" pitchFamily="34" charset="-122"/>
                <a:cs typeface="Calibri" pitchFamily="34" charset="-120"/>
              </a:rPr>
              <a:t>Responsive di berbagai perangkat</a:t>
            </a:r>
            <a:endParaRPr lang="en-US" sz="1400" dirty="0"/>
          </a:p>
          <a:p>
            <a:pPr marL="342900" indent="-342900">
              <a:lnSpc>
                <a:spcPct val="150000"/>
              </a:lnSpc>
              <a:buSzPct val="100000"/>
              <a:buChar char="•"/>
            </a:pPr>
            <a:r>
              <a:rPr lang="en-US" sz="1400" dirty="0">
                <a:solidFill>
                  <a:srgbClr val="D8D8DC"/>
                </a:solidFill>
                <a:latin typeface="Calibri" pitchFamily="34" charset="0"/>
                <a:ea typeface="Calibri" pitchFamily="34" charset="-122"/>
                <a:cs typeface="Calibri" pitchFamily="34" charset="-120"/>
              </a:rPr>
              <a:t>Performa cepat</a:t>
            </a:r>
            <a:endParaRPr lang="en-US" sz="1400" dirty="0"/>
          </a:p>
          <a:p>
            <a:pPr marL="342900" indent="-342900">
              <a:lnSpc>
                <a:spcPct val="150000"/>
              </a:lnSpc>
              <a:buSzPct val="100000"/>
              <a:buChar char="•"/>
            </a:pPr>
            <a:r>
              <a:rPr lang="en-US" sz="1400" dirty="0">
                <a:solidFill>
                  <a:srgbClr val="D8D8DC"/>
                </a:solidFill>
                <a:latin typeface="Calibri" pitchFamily="34" charset="0"/>
                <a:ea typeface="Calibri" pitchFamily="34" charset="-122"/>
                <a:cs typeface="Calibri" pitchFamily="34" charset="-120"/>
              </a:rPr>
              <a:t>Mudah digunakan (user-friendly)</a:t>
            </a:r>
            <a:endParaRPr lang="en-US" sz="1400" dirty="0"/>
          </a:p>
          <a:p>
            <a:pPr marL="342900" indent="-342900">
              <a:lnSpc>
                <a:spcPct val="150000"/>
              </a:lnSpc>
              <a:buSzPct val="100000"/>
              <a:buChar char="•"/>
            </a:pPr>
            <a:r>
              <a:rPr lang="en-US" sz="1400" dirty="0">
                <a:solidFill>
                  <a:srgbClr val="D8D8DC"/>
                </a:solidFill>
                <a:latin typeface="Calibri" pitchFamily="34" charset="0"/>
                <a:ea typeface="Calibri" pitchFamily="34" charset="-122"/>
                <a:cs typeface="Calibri" pitchFamily="34" charset="-120"/>
              </a:rPr>
              <a:t>Tampilan modern</a:t>
            </a:r>
            <a:endParaRPr lang="en-US" sz="1400" dirty="0"/>
          </a:p>
          <a:p>
            <a:pPr marL="342900" indent="-342900">
              <a:lnSpc>
                <a:spcPct val="150000"/>
              </a:lnSpc>
              <a:buSzPct val="100000"/>
              <a:buChar char="•"/>
            </a:pPr>
            <a:r>
              <a:rPr lang="en-US" sz="1400" dirty="0">
                <a:solidFill>
                  <a:srgbClr val="D8D8DC"/>
                </a:solidFill>
                <a:latin typeface="Calibri" pitchFamily="34" charset="0"/>
                <a:ea typeface="Calibri" pitchFamily="34" charset="-122"/>
                <a:cs typeface="Calibri" pitchFamily="34" charset="-120"/>
              </a:rPr>
              <a:t>Tanpa database (JSON file)</a:t>
            </a:r>
            <a:endParaRPr lang="en-US" sz="1400" dirty="0"/>
          </a:p>
          <a:p>
            <a:pPr marL="342900" indent="-342900">
              <a:lnSpc>
                <a:spcPct val="150000"/>
              </a:lnSpc>
              <a:buSzPct val="100000"/>
              <a:buChar char="•"/>
            </a:pPr>
            <a:r>
              <a:rPr lang="en-US" sz="1400" dirty="0">
                <a:solidFill>
                  <a:srgbClr val="D8D8DC"/>
                </a:solidFill>
                <a:latin typeface="Calibri" pitchFamily="34" charset="0"/>
                <a:ea typeface="Calibri" pitchFamily="34" charset="-122"/>
                <a:cs typeface="Calibri" pitchFamily="34" charset="-120"/>
              </a:rPr>
              <a:t>Siap deploy ke Vercel</a:t>
            </a:r>
            <a:endParaRPr lang="en-US" sz="1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5F6"/>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274320"/>
          </a:xfrm>
          <a:prstGeom prst="rect">
            <a:avLst/>
          </a:prstGeom>
          <a:noFill/>
          <a:ln/>
        </p:spPr>
        <p:txBody>
          <a:bodyPr wrap="square" lIns="0" tIns="0" rIns="0" bIns="0" rtlCol="0" anchor="ctr"/>
          <a:lstStyle/>
          <a:p>
            <a:pPr marL="0" indent="0">
              <a:buNone/>
            </a:pPr>
            <a:r>
              <a:rPr lang="en-US" sz="1200" b="1" kern="0" spc="200" dirty="0">
                <a:solidFill>
                  <a:srgbClr val="E10600"/>
                </a:solidFill>
                <a:latin typeface="Calibri" pitchFamily="34" charset="0"/>
                <a:ea typeface="Calibri" pitchFamily="34" charset="-122"/>
                <a:cs typeface="Calibri" pitchFamily="34" charset="-120"/>
              </a:rPr>
              <a:t>RENCANA KERJA</a:t>
            </a:r>
            <a:endParaRPr lang="en-US" sz="1200" dirty="0"/>
          </a:p>
        </p:txBody>
      </p:sp>
      <p:sp>
        <p:nvSpPr>
          <p:cNvPr id="3" name="Text 1"/>
          <p:cNvSpPr/>
          <p:nvPr/>
        </p:nvSpPr>
        <p:spPr>
          <a:xfrm>
            <a:off x="530352" y="621792"/>
            <a:ext cx="10515600" cy="685800"/>
          </a:xfrm>
          <a:prstGeom prst="rect">
            <a:avLst/>
          </a:prstGeom>
          <a:noFill/>
          <a:ln/>
        </p:spPr>
        <p:txBody>
          <a:bodyPr wrap="square" lIns="0" tIns="0" rIns="0" bIns="0" rtlCol="0" anchor="ctr"/>
          <a:lstStyle/>
          <a:p>
            <a:pPr marL="0" indent="0">
              <a:buNone/>
            </a:pPr>
            <a:r>
              <a:rPr lang="en-US" sz="3200" b="1" dirty="0">
                <a:solidFill>
                  <a:srgbClr val="1A1A1D"/>
                </a:solidFill>
                <a:latin typeface="Cambria" pitchFamily="34" charset="0"/>
                <a:ea typeface="Cambria" pitchFamily="34" charset="-122"/>
                <a:cs typeface="Cambria" pitchFamily="34" charset="-120"/>
              </a:rPr>
              <a:t>Roadmap Pengembangan</a:t>
            </a:r>
            <a:endParaRPr lang="en-US" sz="3200" dirty="0"/>
          </a:p>
        </p:txBody>
      </p:sp>
      <p:sp>
        <p:nvSpPr>
          <p:cNvPr id="4" name="Text 2"/>
          <p:cNvSpPr/>
          <p:nvPr/>
        </p:nvSpPr>
        <p:spPr>
          <a:xfrm>
            <a:off x="457200" y="6492240"/>
            <a:ext cx="5486400" cy="274320"/>
          </a:xfrm>
          <a:prstGeom prst="rect">
            <a:avLst/>
          </a:prstGeom>
          <a:noFill/>
          <a:ln/>
        </p:spPr>
        <p:txBody>
          <a:bodyPr wrap="square" lIns="0" tIns="0" rIns="0" bIns="0" rtlCol="0" anchor="ctr"/>
          <a:lstStyle/>
          <a:p>
            <a:pPr marL="0" indent="0">
              <a:buNone/>
            </a:pPr>
            <a:r>
              <a:rPr lang="en-US" sz="900" kern="0" spc="150" dirty="0">
                <a:solidFill>
                  <a:srgbClr val="6B7280"/>
                </a:solidFill>
                <a:latin typeface="Calibri" pitchFamily="34" charset="0"/>
                <a:ea typeface="Calibri" pitchFamily="34" charset="-122"/>
                <a:cs typeface="Calibri" pitchFamily="34" charset="-120"/>
              </a:rPr>
              <a:t>RACE SETUP GARAGE</a:t>
            </a:r>
            <a:endParaRPr lang="en-US" sz="900" dirty="0"/>
          </a:p>
        </p:txBody>
      </p:sp>
      <p:sp>
        <p:nvSpPr>
          <p:cNvPr id="5" name="Text 3"/>
          <p:cNvSpPr/>
          <p:nvPr/>
        </p:nvSpPr>
        <p:spPr>
          <a:xfrm>
            <a:off x="11274552" y="6492240"/>
            <a:ext cx="457200" cy="274320"/>
          </a:xfrm>
          <a:prstGeom prst="rect">
            <a:avLst/>
          </a:prstGeom>
          <a:noFill/>
          <a:ln/>
        </p:spPr>
        <p:txBody>
          <a:bodyPr wrap="square" lIns="0" tIns="0" rIns="0" bIns="0" rtlCol="0" anchor="ctr"/>
          <a:lstStyle/>
          <a:p>
            <a:pPr marL="0" indent="0" algn="r">
              <a:buNone/>
            </a:pPr>
            <a:r>
              <a:rPr lang="en-US" sz="900" dirty="0">
                <a:solidFill>
                  <a:srgbClr val="6B7280"/>
                </a:solidFill>
                <a:latin typeface="Calibri" pitchFamily="34" charset="0"/>
                <a:ea typeface="Calibri" pitchFamily="34" charset="-122"/>
                <a:cs typeface="Calibri" pitchFamily="34" charset="-120"/>
              </a:rPr>
              <a:t>15</a:t>
            </a:r>
            <a:endParaRPr lang="en-US" sz="900" dirty="0"/>
          </a:p>
        </p:txBody>
      </p:sp>
      <p:sp>
        <p:nvSpPr>
          <p:cNvPr id="6" name="Shape 4"/>
          <p:cNvSpPr/>
          <p:nvPr/>
        </p:nvSpPr>
        <p:spPr>
          <a:xfrm>
            <a:off x="1559052" y="2651760"/>
            <a:ext cx="9070848" cy="0"/>
          </a:xfrm>
          <a:prstGeom prst="line">
            <a:avLst/>
          </a:prstGeom>
          <a:noFill/>
          <a:ln w="38100">
            <a:solidFill>
              <a:srgbClr val="E5E7EB"/>
            </a:solidFill>
            <a:prstDash val="solid"/>
          </a:ln>
        </p:spPr>
      </p:sp>
      <p:sp>
        <p:nvSpPr>
          <p:cNvPr id="7" name="Shape 5"/>
          <p:cNvSpPr/>
          <p:nvPr/>
        </p:nvSpPr>
        <p:spPr>
          <a:xfrm>
            <a:off x="1193292" y="2286000"/>
            <a:ext cx="731520" cy="731520"/>
          </a:xfrm>
          <a:prstGeom prst="ellipse">
            <a:avLst/>
          </a:prstGeom>
          <a:solidFill>
            <a:srgbClr val="E10600"/>
          </a:solidFill>
          <a:ln/>
        </p:spPr>
      </p:sp>
      <p:sp>
        <p:nvSpPr>
          <p:cNvPr id="8" name="Text 6"/>
          <p:cNvSpPr/>
          <p:nvPr/>
        </p:nvSpPr>
        <p:spPr>
          <a:xfrm>
            <a:off x="1193292" y="228600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Shape 7"/>
          <p:cNvSpPr/>
          <p:nvPr/>
        </p:nvSpPr>
        <p:spPr>
          <a:xfrm>
            <a:off x="553212" y="3200400"/>
            <a:ext cx="2011680" cy="1325880"/>
          </a:xfrm>
          <a:prstGeom prst="roundRect">
            <a:avLst>
              <a:gd name="adj" fmla="val 6897"/>
            </a:avLst>
          </a:prstGeom>
          <a:solidFill>
            <a:srgbClr val="FFFFFF"/>
          </a:solidFill>
          <a:ln/>
          <a:effectLst>
            <a:outerShdw blurRad="101600" dist="38100" dir="5400000" algn="bl" rotWithShape="0">
              <a:srgbClr val="000000">
                <a:alpha val="12000"/>
              </a:srgbClr>
            </a:outerShdw>
          </a:effectLst>
        </p:spPr>
      </p:sp>
      <p:pic>
        <p:nvPicPr>
          <p:cNvPr id="10" name="Image 0" descr="preencoded.png"/>
          <p:cNvPicPr>
            <a:picLocks noChangeAspect="1"/>
          </p:cNvPicPr>
          <p:nvPr/>
        </p:nvPicPr>
        <p:blipFill>
          <a:blip r:embed="rId3"/>
          <a:stretch>
            <a:fillRect/>
          </a:stretch>
        </p:blipFill>
        <p:spPr>
          <a:xfrm>
            <a:off x="1357884" y="3355848"/>
            <a:ext cx="402336" cy="402336"/>
          </a:xfrm>
          <a:prstGeom prst="rect">
            <a:avLst/>
          </a:prstGeom>
        </p:spPr>
      </p:pic>
      <p:sp>
        <p:nvSpPr>
          <p:cNvPr id="11" name="Text 8"/>
          <p:cNvSpPr/>
          <p:nvPr/>
        </p:nvSpPr>
        <p:spPr>
          <a:xfrm>
            <a:off x="644652" y="3813048"/>
            <a:ext cx="1828800" cy="640080"/>
          </a:xfrm>
          <a:prstGeom prst="rect">
            <a:avLst/>
          </a:prstGeom>
          <a:noFill/>
          <a:ln/>
        </p:spPr>
        <p:txBody>
          <a:bodyPr wrap="square" lIns="0" tIns="0" rIns="0" bIns="0" rtlCol="0" anchor="ctr"/>
          <a:lstStyle/>
          <a:p>
            <a:pPr marL="0" indent="0" algn="ctr">
              <a:lnSpc>
                <a:spcPct val="115000"/>
              </a:lnSpc>
              <a:buNone/>
            </a:pPr>
            <a:r>
              <a:rPr lang="en-US" sz="1200" b="1" dirty="0">
                <a:solidFill>
                  <a:srgbClr val="2B2B30"/>
                </a:solidFill>
                <a:latin typeface="Calibri" pitchFamily="34" charset="0"/>
                <a:ea typeface="Calibri" pitchFamily="34" charset="-122"/>
                <a:cs typeface="Calibri" pitchFamily="34" charset="-120"/>
              </a:rPr>
              <a:t>Setup Project</a:t>
            </a:r>
            <a:endParaRPr lang="en-US" sz="1200" dirty="0"/>
          </a:p>
        </p:txBody>
      </p:sp>
      <p:sp>
        <p:nvSpPr>
          <p:cNvPr id="12" name="Shape 9"/>
          <p:cNvSpPr/>
          <p:nvPr/>
        </p:nvSpPr>
        <p:spPr>
          <a:xfrm>
            <a:off x="3461004" y="2286000"/>
            <a:ext cx="731520" cy="731520"/>
          </a:xfrm>
          <a:prstGeom prst="ellipse">
            <a:avLst/>
          </a:prstGeom>
          <a:solidFill>
            <a:srgbClr val="E10600"/>
          </a:solidFill>
          <a:ln/>
        </p:spPr>
      </p:sp>
      <p:sp>
        <p:nvSpPr>
          <p:cNvPr id="13" name="Text 10"/>
          <p:cNvSpPr/>
          <p:nvPr/>
        </p:nvSpPr>
        <p:spPr>
          <a:xfrm>
            <a:off x="3461004" y="228600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1"/>
          <p:cNvSpPr/>
          <p:nvPr/>
        </p:nvSpPr>
        <p:spPr>
          <a:xfrm>
            <a:off x="2820924" y="3200400"/>
            <a:ext cx="2011680" cy="1325880"/>
          </a:xfrm>
          <a:prstGeom prst="roundRect">
            <a:avLst>
              <a:gd name="adj" fmla="val 6897"/>
            </a:avLst>
          </a:prstGeom>
          <a:solidFill>
            <a:srgbClr val="FFFFFF"/>
          </a:solidFill>
          <a:ln/>
          <a:effectLst>
            <a:outerShdw blurRad="101600" dist="38100" dir="5400000" algn="bl" rotWithShape="0">
              <a:srgbClr val="000000">
                <a:alpha val="12000"/>
              </a:srgbClr>
            </a:outerShdw>
          </a:effectLst>
        </p:spPr>
      </p:sp>
      <p:pic>
        <p:nvPicPr>
          <p:cNvPr id="15" name="Image 1" descr="preencoded.png"/>
          <p:cNvPicPr>
            <a:picLocks noChangeAspect="1"/>
          </p:cNvPicPr>
          <p:nvPr/>
        </p:nvPicPr>
        <p:blipFill>
          <a:blip r:embed="rId4"/>
          <a:stretch>
            <a:fillRect/>
          </a:stretch>
        </p:blipFill>
        <p:spPr>
          <a:xfrm>
            <a:off x="3625596" y="3355848"/>
            <a:ext cx="402336" cy="402336"/>
          </a:xfrm>
          <a:prstGeom prst="rect">
            <a:avLst/>
          </a:prstGeom>
        </p:spPr>
      </p:pic>
      <p:sp>
        <p:nvSpPr>
          <p:cNvPr id="16" name="Text 12"/>
          <p:cNvSpPr/>
          <p:nvPr/>
        </p:nvSpPr>
        <p:spPr>
          <a:xfrm>
            <a:off x="2912364" y="3813048"/>
            <a:ext cx="1828800" cy="640080"/>
          </a:xfrm>
          <a:prstGeom prst="rect">
            <a:avLst/>
          </a:prstGeom>
          <a:noFill/>
          <a:ln/>
        </p:spPr>
        <p:txBody>
          <a:bodyPr wrap="square" lIns="0" tIns="0" rIns="0" bIns="0" rtlCol="0" anchor="ctr"/>
          <a:lstStyle/>
          <a:p>
            <a:pPr marL="0" indent="0" algn="ctr">
              <a:lnSpc>
                <a:spcPct val="115000"/>
              </a:lnSpc>
              <a:buNone/>
            </a:pPr>
            <a:r>
              <a:rPr lang="en-US" sz="1200" b="1" dirty="0">
                <a:solidFill>
                  <a:srgbClr val="2B2B30"/>
                </a:solidFill>
                <a:latin typeface="Calibri" pitchFamily="34" charset="0"/>
                <a:ea typeface="Calibri" pitchFamily="34" charset="-122"/>
                <a:cs typeface="Calibri" pitchFamily="34" charset="-120"/>
              </a:rPr>
              <a:t>Implementasi CRUD</a:t>
            </a:r>
            <a:endParaRPr lang="en-US" sz="1200" dirty="0"/>
          </a:p>
        </p:txBody>
      </p:sp>
      <p:sp>
        <p:nvSpPr>
          <p:cNvPr id="17" name="Shape 13"/>
          <p:cNvSpPr/>
          <p:nvPr/>
        </p:nvSpPr>
        <p:spPr>
          <a:xfrm>
            <a:off x="5728716" y="2286000"/>
            <a:ext cx="731520" cy="731520"/>
          </a:xfrm>
          <a:prstGeom prst="ellipse">
            <a:avLst/>
          </a:prstGeom>
          <a:solidFill>
            <a:srgbClr val="E10600"/>
          </a:solidFill>
          <a:ln/>
        </p:spPr>
      </p:sp>
      <p:sp>
        <p:nvSpPr>
          <p:cNvPr id="18" name="Text 14"/>
          <p:cNvSpPr/>
          <p:nvPr/>
        </p:nvSpPr>
        <p:spPr>
          <a:xfrm>
            <a:off x="5728716" y="228600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Shape 15"/>
          <p:cNvSpPr/>
          <p:nvPr/>
        </p:nvSpPr>
        <p:spPr>
          <a:xfrm>
            <a:off x="5088636" y="3200400"/>
            <a:ext cx="2011680" cy="1325880"/>
          </a:xfrm>
          <a:prstGeom prst="roundRect">
            <a:avLst>
              <a:gd name="adj" fmla="val 6897"/>
            </a:avLst>
          </a:prstGeom>
          <a:solidFill>
            <a:srgbClr val="FFFFFF"/>
          </a:solidFill>
          <a:ln/>
          <a:effectLst>
            <a:outerShdw blurRad="101600" dist="38100" dir="5400000" algn="bl" rotWithShape="0">
              <a:srgbClr val="000000">
                <a:alpha val="12000"/>
              </a:srgbClr>
            </a:outerShdw>
          </a:effectLst>
        </p:spPr>
      </p:sp>
      <p:pic>
        <p:nvPicPr>
          <p:cNvPr id="20" name="Image 2" descr="preencoded.png"/>
          <p:cNvPicPr>
            <a:picLocks noChangeAspect="1"/>
          </p:cNvPicPr>
          <p:nvPr/>
        </p:nvPicPr>
        <p:blipFill>
          <a:blip r:embed="rId5"/>
          <a:stretch>
            <a:fillRect/>
          </a:stretch>
        </p:blipFill>
        <p:spPr>
          <a:xfrm>
            <a:off x="5893308" y="3355848"/>
            <a:ext cx="402336" cy="402336"/>
          </a:xfrm>
          <a:prstGeom prst="rect">
            <a:avLst/>
          </a:prstGeom>
        </p:spPr>
      </p:pic>
      <p:sp>
        <p:nvSpPr>
          <p:cNvPr id="21" name="Text 16"/>
          <p:cNvSpPr/>
          <p:nvPr/>
        </p:nvSpPr>
        <p:spPr>
          <a:xfrm>
            <a:off x="5180076" y="3813048"/>
            <a:ext cx="1828800" cy="640080"/>
          </a:xfrm>
          <a:prstGeom prst="rect">
            <a:avLst/>
          </a:prstGeom>
          <a:noFill/>
          <a:ln/>
        </p:spPr>
        <p:txBody>
          <a:bodyPr wrap="square" lIns="0" tIns="0" rIns="0" bIns="0" rtlCol="0" anchor="ctr"/>
          <a:lstStyle/>
          <a:p>
            <a:pPr marL="0" indent="0" algn="ctr">
              <a:lnSpc>
                <a:spcPct val="115000"/>
              </a:lnSpc>
              <a:buNone/>
            </a:pPr>
            <a:r>
              <a:rPr lang="en-US" sz="1200" b="1" dirty="0">
                <a:solidFill>
                  <a:srgbClr val="2B2B30"/>
                </a:solidFill>
                <a:latin typeface="Calibri" pitchFamily="34" charset="0"/>
                <a:ea typeface="Calibri" pitchFamily="34" charset="-122"/>
                <a:cs typeface="Calibri" pitchFamily="34" charset="-120"/>
              </a:rPr>
              <a:t>Search, Filter, Sorting</a:t>
            </a:r>
            <a:endParaRPr lang="en-US" sz="1200" dirty="0"/>
          </a:p>
        </p:txBody>
      </p:sp>
      <p:sp>
        <p:nvSpPr>
          <p:cNvPr id="22" name="Shape 17"/>
          <p:cNvSpPr/>
          <p:nvPr/>
        </p:nvSpPr>
        <p:spPr>
          <a:xfrm>
            <a:off x="7996428" y="2286000"/>
            <a:ext cx="731520" cy="731520"/>
          </a:xfrm>
          <a:prstGeom prst="ellipse">
            <a:avLst/>
          </a:prstGeom>
          <a:solidFill>
            <a:srgbClr val="E10600"/>
          </a:solidFill>
          <a:ln/>
        </p:spPr>
      </p:sp>
      <p:sp>
        <p:nvSpPr>
          <p:cNvPr id="23" name="Text 18"/>
          <p:cNvSpPr/>
          <p:nvPr/>
        </p:nvSpPr>
        <p:spPr>
          <a:xfrm>
            <a:off x="7996428" y="228600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4" name="Shape 19"/>
          <p:cNvSpPr/>
          <p:nvPr/>
        </p:nvSpPr>
        <p:spPr>
          <a:xfrm>
            <a:off x="7356348" y="3200400"/>
            <a:ext cx="2011680" cy="1325880"/>
          </a:xfrm>
          <a:prstGeom prst="roundRect">
            <a:avLst>
              <a:gd name="adj" fmla="val 6897"/>
            </a:avLst>
          </a:prstGeom>
          <a:solidFill>
            <a:srgbClr val="FFFFFF"/>
          </a:solidFill>
          <a:ln/>
          <a:effectLst>
            <a:outerShdw blurRad="101600" dist="38100" dir="5400000" algn="bl" rotWithShape="0">
              <a:srgbClr val="000000">
                <a:alpha val="12000"/>
              </a:srgbClr>
            </a:outerShdw>
          </a:effectLst>
        </p:spPr>
      </p:sp>
      <p:pic>
        <p:nvPicPr>
          <p:cNvPr id="25" name="Image 3" descr="preencoded.png"/>
          <p:cNvPicPr>
            <a:picLocks noChangeAspect="1"/>
          </p:cNvPicPr>
          <p:nvPr/>
        </p:nvPicPr>
        <p:blipFill>
          <a:blip r:embed="rId6"/>
          <a:stretch>
            <a:fillRect/>
          </a:stretch>
        </p:blipFill>
        <p:spPr>
          <a:xfrm>
            <a:off x="8161020" y="3355848"/>
            <a:ext cx="402336" cy="402336"/>
          </a:xfrm>
          <a:prstGeom prst="rect">
            <a:avLst/>
          </a:prstGeom>
        </p:spPr>
      </p:pic>
      <p:sp>
        <p:nvSpPr>
          <p:cNvPr id="26" name="Text 20"/>
          <p:cNvSpPr/>
          <p:nvPr/>
        </p:nvSpPr>
        <p:spPr>
          <a:xfrm>
            <a:off x="7447788" y="3813048"/>
            <a:ext cx="1828800" cy="640080"/>
          </a:xfrm>
          <a:prstGeom prst="rect">
            <a:avLst/>
          </a:prstGeom>
          <a:noFill/>
          <a:ln/>
        </p:spPr>
        <p:txBody>
          <a:bodyPr wrap="square" lIns="0" tIns="0" rIns="0" bIns="0" rtlCol="0" anchor="ctr"/>
          <a:lstStyle/>
          <a:p>
            <a:pPr marL="0" indent="0" algn="ctr">
              <a:lnSpc>
                <a:spcPct val="115000"/>
              </a:lnSpc>
              <a:buNone/>
            </a:pPr>
            <a:r>
              <a:rPr lang="en-US" sz="1200" b="1" dirty="0">
                <a:solidFill>
                  <a:srgbClr val="2B2B30"/>
                </a:solidFill>
                <a:latin typeface="Calibri" pitchFamily="34" charset="0"/>
                <a:ea typeface="Calibri" pitchFamily="34" charset="-122"/>
                <a:cs typeface="Calibri" pitchFamily="34" charset="-120"/>
              </a:rPr>
              <a:t>Export PDF &amp; Excel</a:t>
            </a:r>
            <a:endParaRPr lang="en-US" sz="1200" dirty="0"/>
          </a:p>
        </p:txBody>
      </p:sp>
      <p:sp>
        <p:nvSpPr>
          <p:cNvPr id="27" name="Shape 21"/>
          <p:cNvSpPr/>
          <p:nvPr/>
        </p:nvSpPr>
        <p:spPr>
          <a:xfrm>
            <a:off x="10264140" y="2286000"/>
            <a:ext cx="731520" cy="731520"/>
          </a:xfrm>
          <a:prstGeom prst="ellipse">
            <a:avLst/>
          </a:prstGeom>
          <a:solidFill>
            <a:srgbClr val="E10600"/>
          </a:solidFill>
          <a:ln/>
        </p:spPr>
      </p:sp>
      <p:sp>
        <p:nvSpPr>
          <p:cNvPr id="28" name="Text 22"/>
          <p:cNvSpPr/>
          <p:nvPr/>
        </p:nvSpPr>
        <p:spPr>
          <a:xfrm>
            <a:off x="10264140" y="2286000"/>
            <a:ext cx="7315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9" name="Shape 23"/>
          <p:cNvSpPr/>
          <p:nvPr/>
        </p:nvSpPr>
        <p:spPr>
          <a:xfrm>
            <a:off x="9624060" y="3200400"/>
            <a:ext cx="2011680" cy="1325880"/>
          </a:xfrm>
          <a:prstGeom prst="roundRect">
            <a:avLst>
              <a:gd name="adj" fmla="val 6897"/>
            </a:avLst>
          </a:prstGeom>
          <a:solidFill>
            <a:srgbClr val="FFFFFF"/>
          </a:solidFill>
          <a:ln/>
          <a:effectLst>
            <a:outerShdw blurRad="101600" dist="38100" dir="5400000" algn="bl" rotWithShape="0">
              <a:srgbClr val="000000">
                <a:alpha val="12000"/>
              </a:srgbClr>
            </a:outerShdw>
          </a:effectLst>
        </p:spPr>
      </p:sp>
      <p:pic>
        <p:nvPicPr>
          <p:cNvPr id="30" name="Image 4" descr="preencoded.png"/>
          <p:cNvPicPr>
            <a:picLocks noChangeAspect="1"/>
          </p:cNvPicPr>
          <p:nvPr/>
        </p:nvPicPr>
        <p:blipFill>
          <a:blip r:embed="rId7"/>
          <a:stretch>
            <a:fillRect/>
          </a:stretch>
        </p:blipFill>
        <p:spPr>
          <a:xfrm>
            <a:off x="10428732" y="3355848"/>
            <a:ext cx="402336" cy="402336"/>
          </a:xfrm>
          <a:prstGeom prst="rect">
            <a:avLst/>
          </a:prstGeom>
        </p:spPr>
      </p:pic>
      <p:sp>
        <p:nvSpPr>
          <p:cNvPr id="31" name="Text 24"/>
          <p:cNvSpPr/>
          <p:nvPr/>
        </p:nvSpPr>
        <p:spPr>
          <a:xfrm>
            <a:off x="9715500" y="3813048"/>
            <a:ext cx="1828800" cy="640080"/>
          </a:xfrm>
          <a:prstGeom prst="rect">
            <a:avLst/>
          </a:prstGeom>
          <a:noFill/>
          <a:ln/>
        </p:spPr>
        <p:txBody>
          <a:bodyPr wrap="square" lIns="0" tIns="0" rIns="0" bIns="0" rtlCol="0" anchor="ctr"/>
          <a:lstStyle/>
          <a:p>
            <a:pPr marL="0" indent="0" algn="ctr">
              <a:lnSpc>
                <a:spcPct val="115000"/>
              </a:lnSpc>
              <a:buNone/>
            </a:pPr>
            <a:r>
              <a:rPr lang="en-US" sz="1200" b="1" dirty="0">
                <a:solidFill>
                  <a:srgbClr val="2B2B30"/>
                </a:solidFill>
                <a:latin typeface="Calibri" pitchFamily="34" charset="0"/>
                <a:ea typeface="Calibri" pitchFamily="34" charset="-122"/>
                <a:cs typeface="Calibri" pitchFamily="34" charset="-120"/>
              </a:rPr>
              <a:t>Testing &amp; Deployment</a:t>
            </a:r>
            <a:endParaRPr lang="en-US" sz="12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1D"/>
        </a:solidFill>
        <a:effectLst/>
      </p:bgPr>
    </p:bg>
    <p:spTree>
      <p:nvGrpSpPr>
        <p:cNvPr id="1" name=""/>
        <p:cNvGrpSpPr/>
        <p:nvPr/>
      </p:nvGrpSpPr>
      <p:grpSpPr>
        <a:xfrm>
          <a:off x="0" y="0"/>
          <a:ext cx="0" cy="0"/>
          <a:chOff x="0" y="0"/>
          <a:chExt cx="0" cy="0"/>
        </a:xfrm>
      </p:grpSpPr>
      <p:sp>
        <p:nvSpPr>
          <p:cNvPr id="2" name="Shape 0"/>
          <p:cNvSpPr/>
          <p:nvPr/>
        </p:nvSpPr>
        <p:spPr>
          <a:xfrm>
            <a:off x="0" y="0"/>
            <a:ext cx="3410712" cy="6858000"/>
          </a:xfrm>
          <a:prstGeom prst="rect">
            <a:avLst/>
          </a:prstGeom>
          <a:solidFill>
            <a:srgbClr val="2B2B30"/>
          </a:solidFill>
          <a:ln/>
        </p:spPr>
      </p:sp>
      <p:sp>
        <p:nvSpPr>
          <p:cNvPr id="3" name="Shape 1"/>
          <p:cNvSpPr/>
          <p:nvPr/>
        </p:nvSpPr>
        <p:spPr>
          <a:xfrm>
            <a:off x="-1463040" y="4937760"/>
            <a:ext cx="3840480" cy="3840480"/>
          </a:xfrm>
          <a:prstGeom prst="ellipse">
            <a:avLst/>
          </a:prstGeom>
          <a:solidFill>
            <a:srgbClr val="E10600"/>
          </a:solidFill>
          <a:ln/>
        </p:spPr>
      </p:sp>
      <p:pic>
        <p:nvPicPr>
          <p:cNvPr id="4" name="Image 0" descr="preencoded.png"/>
          <p:cNvPicPr>
            <a:picLocks noChangeAspect="1"/>
          </p:cNvPicPr>
          <p:nvPr/>
        </p:nvPicPr>
        <p:blipFill>
          <a:blip r:embed="rId3"/>
          <a:stretch>
            <a:fillRect/>
          </a:stretch>
        </p:blipFill>
        <p:spPr>
          <a:xfrm>
            <a:off x="777240" y="2743200"/>
            <a:ext cx="1280160" cy="1280160"/>
          </a:xfrm>
          <a:prstGeom prst="rect">
            <a:avLst/>
          </a:prstGeom>
        </p:spPr>
      </p:pic>
      <p:sp>
        <p:nvSpPr>
          <p:cNvPr id="5" name="Text 2"/>
          <p:cNvSpPr/>
          <p:nvPr/>
        </p:nvSpPr>
        <p:spPr>
          <a:xfrm>
            <a:off x="3931920" y="1463040"/>
            <a:ext cx="7315200" cy="365760"/>
          </a:xfrm>
          <a:prstGeom prst="rect">
            <a:avLst/>
          </a:prstGeom>
          <a:noFill/>
          <a:ln/>
        </p:spPr>
        <p:txBody>
          <a:bodyPr wrap="square" lIns="0" tIns="0" rIns="0" bIns="0" rtlCol="0" anchor="ctr"/>
          <a:lstStyle/>
          <a:p>
            <a:pPr marL="0" indent="0">
              <a:buNone/>
            </a:pPr>
            <a:r>
              <a:rPr lang="en-US" sz="1300" b="1" kern="0" spc="200" dirty="0">
                <a:solidFill>
                  <a:srgbClr val="E10600"/>
                </a:solidFill>
                <a:latin typeface="Calibri" pitchFamily="34" charset="0"/>
                <a:ea typeface="Calibri" pitchFamily="34" charset="-122"/>
                <a:cs typeface="Calibri" pitchFamily="34" charset="-120"/>
              </a:rPr>
              <a:t>HASIL YANG DIHARAPKAN</a:t>
            </a:r>
            <a:endParaRPr lang="en-US" sz="1300" dirty="0"/>
          </a:p>
        </p:txBody>
      </p:sp>
      <p:sp>
        <p:nvSpPr>
          <p:cNvPr id="6" name="Text 3"/>
          <p:cNvSpPr/>
          <p:nvPr/>
        </p:nvSpPr>
        <p:spPr>
          <a:xfrm>
            <a:off x="3886200" y="1874520"/>
            <a:ext cx="7680960" cy="1463040"/>
          </a:xfrm>
          <a:prstGeom prst="rect">
            <a:avLst/>
          </a:prstGeom>
          <a:noFill/>
          <a:ln/>
        </p:spPr>
        <p:txBody>
          <a:bodyPr wrap="square" lIns="0" tIns="0" rIns="0" bIns="0" rtlCol="0" anchor="ctr"/>
          <a:lstStyle/>
          <a:p>
            <a:pPr marL="0" indent="0">
              <a:lnSpc>
                <a:spcPct val="110000"/>
              </a:lnSpc>
              <a:buNone/>
            </a:pPr>
            <a:r>
              <a:rPr lang="en-US" sz="3000" b="1" dirty="0">
                <a:solidFill>
                  <a:srgbClr val="FFFFFF"/>
                </a:solidFill>
                <a:latin typeface="Cambria" pitchFamily="34" charset="0"/>
                <a:ea typeface="Cambria" pitchFamily="34" charset="-122"/>
                <a:cs typeface="Cambria" pitchFamily="34" charset="-120"/>
              </a:rPr>
              <a:t>Solusi Digital untuk</a:t>
            </a:r>
            <a:endParaRPr lang="en-US" sz="3000" dirty="0"/>
          </a:p>
          <a:p>
            <a:pPr marL="0" indent="0">
              <a:lnSpc>
                <a:spcPct val="110000"/>
              </a:lnSpc>
              <a:buNone/>
            </a:pPr>
            <a:r>
              <a:rPr lang="en-US" sz="3000" b="1" dirty="0">
                <a:solidFill>
                  <a:srgbClr val="FFFFFF"/>
                </a:solidFill>
                <a:latin typeface="Cambria" pitchFamily="34" charset="0"/>
                <a:ea typeface="Cambria" pitchFamily="34" charset="-122"/>
                <a:cs typeface="Cambria" pitchFamily="34" charset="-120"/>
              </a:rPr>
              <a:t>Manajemen Setup Balap</a:t>
            </a:r>
            <a:endParaRPr lang="en-US" sz="3000" dirty="0"/>
          </a:p>
        </p:txBody>
      </p:sp>
      <p:sp>
        <p:nvSpPr>
          <p:cNvPr id="7" name="Text 4"/>
          <p:cNvSpPr/>
          <p:nvPr/>
        </p:nvSpPr>
        <p:spPr>
          <a:xfrm>
            <a:off x="3931920" y="3429000"/>
            <a:ext cx="7406640" cy="1371600"/>
          </a:xfrm>
          <a:prstGeom prst="rect">
            <a:avLst/>
          </a:prstGeom>
          <a:noFill/>
          <a:ln/>
        </p:spPr>
        <p:txBody>
          <a:bodyPr wrap="square" lIns="0" tIns="0" rIns="0" bIns="0" rtlCol="0" anchor="ctr"/>
          <a:lstStyle/>
          <a:p>
            <a:pPr marL="0" indent="0">
              <a:lnSpc>
                <a:spcPct val="135000"/>
              </a:lnSpc>
              <a:buNone/>
            </a:pPr>
            <a:r>
              <a:rPr lang="en-US" sz="1500" dirty="0">
                <a:solidFill>
                  <a:srgbClr val="C9C9CE"/>
                </a:solidFill>
                <a:latin typeface="Calibri" pitchFamily="34" charset="0"/>
                <a:ea typeface="Calibri" pitchFamily="34" charset="-122"/>
                <a:cs typeface="Calibri" pitchFamily="34" charset="-120"/>
              </a:rPr>
              <a:t>Race Setup Garage menjadi aplikasi sederhana untuk mengelola data setup motor balap dengan penyimpanan berbasis file JSON tanpa database — tetap menyediakan fitur CRUD yang lengkap, cepat, dan mudah dipelajari.</a:t>
            </a:r>
            <a:endParaRPr lang="en-US" sz="1500" dirty="0"/>
          </a:p>
        </p:txBody>
      </p:sp>
      <p:sp>
        <p:nvSpPr>
          <p:cNvPr id="8" name="Shape 5"/>
          <p:cNvSpPr/>
          <p:nvPr/>
        </p:nvSpPr>
        <p:spPr>
          <a:xfrm>
            <a:off x="3931920" y="5029200"/>
            <a:ext cx="2926080" cy="0"/>
          </a:xfrm>
          <a:prstGeom prst="line">
            <a:avLst/>
          </a:prstGeom>
          <a:noFill/>
          <a:ln w="25400">
            <a:solidFill>
              <a:srgbClr val="E10600"/>
            </a:solidFill>
            <a:prstDash val="solid"/>
          </a:ln>
        </p:spPr>
      </p:sp>
      <p:sp>
        <p:nvSpPr>
          <p:cNvPr id="9" name="Text 6"/>
          <p:cNvSpPr/>
          <p:nvPr/>
        </p:nvSpPr>
        <p:spPr>
          <a:xfrm>
            <a:off x="3931920" y="5212080"/>
            <a:ext cx="5486400" cy="54864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Terima Kasih</a:t>
            </a:r>
            <a:endParaRPr lang="en-US" sz="18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TotalTime>
  <Words>672</Words>
  <Application>Microsoft Office PowerPoint</Application>
  <PresentationFormat>Custom</PresentationFormat>
  <Paragraphs>220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Race Setup Garage</dc:title>
  <dc:subject>PptxGenJS Presentation</dc:subject>
  <dc:creator>Race Setup Garage</dc:creator>
  <cp:lastModifiedBy>Lenovo</cp:lastModifiedBy>
  <cp:revision>2</cp:revision>
  <dcterms:created xsi:type="dcterms:W3CDTF">2026-07-05T10:19:07Z</dcterms:created>
  <dcterms:modified xsi:type="dcterms:W3CDTF">2026-07-05T12:08:08Z</dcterms:modified>
</cp:coreProperties>
</file>